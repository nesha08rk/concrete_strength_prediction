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71" r:id="rId5"/>
    <p:sldId id="262" r:id="rId6"/>
    <p:sldId id="263" r:id="rId7"/>
    <p:sldId id="264" r:id="rId8"/>
    <p:sldId id="259" r:id="rId9"/>
    <p:sldId id="260" r:id="rId10"/>
    <p:sldId id="269" r:id="rId11"/>
  </p:sldIdLst>
  <p:sldSz cx="9144000" cy="6858000" type="screen4x3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jmihMLrrBZE8aYcezI03h6WiDJ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315" autoAdjust="0"/>
    <p:restoredTop sz="94660"/>
  </p:normalViewPr>
  <p:slideViewPr>
    <p:cSldViewPr snapToGrid="0">
      <p:cViewPr varScale="1">
        <p:scale>
          <a:sx n="77" d="100"/>
          <a:sy n="77" d="100"/>
        </p:scale>
        <p:origin x="1099" y="67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20884616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00933E87-5C11-3150-3F05-8896B8934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>
            <a:extLst>
              <a:ext uri="{FF2B5EF4-FFF2-40B4-BE49-F238E27FC236}">
                <a16:creationId xmlns:a16="http://schemas.microsoft.com/office/drawing/2014/main" id="{60E1B26B-17EA-AD8E-7121-C44CBAE90A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>
            <a:extLst>
              <a:ext uri="{FF2B5EF4-FFF2-40B4-BE49-F238E27FC236}">
                <a16:creationId xmlns:a16="http://schemas.microsoft.com/office/drawing/2014/main" id="{9BA26095-9FCE-F6DB-A302-A38E89D9CA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91260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 txBox="1">
            <a:spLocks noGrp="1"/>
          </p:cNvSpPr>
          <p:nvPr>
            <p:ph type="body" idx="1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" name="Google Shape;6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0"/>
          <p:cNvSpPr txBox="1">
            <a:spLocks noGrp="1"/>
          </p:cNvSpPr>
          <p:nvPr>
            <p:ph type="title"/>
          </p:nvPr>
        </p:nvSpPr>
        <p:spPr>
          <a:xfrm>
            <a:off x="2540635" y="403351"/>
            <a:ext cx="4675505" cy="71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body" idx="1"/>
          </p:nvPr>
        </p:nvSpPr>
        <p:spPr>
          <a:xfrm>
            <a:off x="4186809" y="3302679"/>
            <a:ext cx="3864609" cy="250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subTitle" idx="1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>
            <a:spLocks noGrp="1"/>
          </p:cNvSpPr>
          <p:nvPr>
            <p:ph type="title"/>
          </p:nvPr>
        </p:nvSpPr>
        <p:spPr>
          <a:xfrm>
            <a:off x="2540635" y="403351"/>
            <a:ext cx="4675505" cy="71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body" idx="1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2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9144000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9"/>
          <p:cNvSpPr txBox="1">
            <a:spLocks noGrp="1"/>
          </p:cNvSpPr>
          <p:nvPr>
            <p:ph type="title"/>
          </p:nvPr>
        </p:nvSpPr>
        <p:spPr>
          <a:xfrm>
            <a:off x="2540635" y="403351"/>
            <a:ext cx="4675505" cy="717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body" idx="1"/>
          </p:nvPr>
        </p:nvSpPr>
        <p:spPr>
          <a:xfrm>
            <a:off x="4186809" y="3302679"/>
            <a:ext cx="3864609" cy="2506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dt" idx="10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1"/>
          <p:cNvGrpSpPr/>
          <p:nvPr/>
        </p:nvGrpSpPr>
        <p:grpSpPr>
          <a:xfrm>
            <a:off x="0" y="0"/>
            <a:ext cx="3067050" cy="6857998"/>
            <a:chOff x="0" y="0"/>
            <a:chExt cx="3067050" cy="6857998"/>
          </a:xfrm>
        </p:grpSpPr>
        <p:pic>
          <p:nvPicPr>
            <p:cNvPr id="49" name="Google Shape;49;p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0" y="0"/>
              <a:ext cx="3067050" cy="68579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" name="Google Shape;50;p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524000" y="1338452"/>
              <a:ext cx="1479041" cy="1389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81000" y="4495812"/>
              <a:ext cx="1479041" cy="184137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" name="Google Shape;52;p1"/>
          <p:cNvSpPr txBox="1">
            <a:spLocks noGrp="1"/>
          </p:cNvSpPr>
          <p:nvPr>
            <p:ph type="title"/>
          </p:nvPr>
        </p:nvSpPr>
        <p:spPr>
          <a:xfrm>
            <a:off x="3109383" y="1367979"/>
            <a:ext cx="6312310" cy="112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algn="ctr"/>
            <a:r>
              <a:rPr lang="en-GB" sz="2400" dirty="0"/>
              <a:t>Explainable Multi-Objective Concrete Mix Optimization for Strength, Cost, and Sustainability Using Machine Learning</a:t>
            </a:r>
          </a:p>
        </p:txBody>
      </p:sp>
      <p:sp>
        <p:nvSpPr>
          <p:cNvPr id="53" name="Google Shape;53;p1"/>
          <p:cNvSpPr txBox="1">
            <a:spLocks noGrp="1"/>
          </p:cNvSpPr>
          <p:nvPr>
            <p:ph type="body" idx="1"/>
          </p:nvPr>
        </p:nvSpPr>
        <p:spPr>
          <a:xfrm>
            <a:off x="4453466" y="4158624"/>
            <a:ext cx="5257801" cy="1286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688975" marR="618490" lvl="0" indent="-654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Team Members:</a:t>
            </a:r>
            <a:endParaRPr dirty="0"/>
          </a:p>
          <a:p>
            <a:pPr marL="688975" marR="618490" lvl="0" indent="-654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MIDUNA R </a:t>
            </a:r>
            <a:r>
              <a:rPr lang="en-US" b="0" dirty="0">
                <a:latin typeface="Times New Roman"/>
                <a:ea typeface="Times New Roman"/>
                <a:cs typeface="Times New Roman"/>
                <a:sym typeface="Times New Roman"/>
              </a:rPr>
              <a:t>(23CSR131)</a:t>
            </a:r>
            <a:endParaRPr b="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8975" marR="618490" lvl="0" indent="-654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>
                <a:latin typeface="Times New Roman"/>
                <a:ea typeface="Times New Roman"/>
                <a:cs typeface="Times New Roman"/>
                <a:sym typeface="Times New Roman"/>
              </a:rPr>
              <a:t>NESHA R K(23CSR147) </a:t>
            </a:r>
          </a:p>
          <a:p>
            <a:pPr marL="688975" marR="618490" lvl="0" indent="-6540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/>
              <a:t>ROHITH O R(23CSR180)</a:t>
            </a:r>
            <a:endParaRPr b="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3109383" y="6092143"/>
            <a:ext cx="5236209" cy="629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/>
            <a:br>
              <a:rPr lang="en-IN" sz="2000" b="1" spc="-10" dirty="0">
                <a:latin typeface="Times New Roman"/>
                <a:cs typeface="Times New Roman"/>
              </a:rPr>
            </a:br>
            <a:r>
              <a:rPr lang="en-US" sz="2000" b="1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</a:t>
            </a:r>
            <a:r>
              <a:rPr lang="en-US" sz="2000" b="1" i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.06.2026</a:t>
            </a:r>
            <a:endParaRPr sz="2000" b="0" i="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2962638" y="294175"/>
            <a:ext cx="4672602" cy="1327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>
                <a:solidFill>
                  <a:srgbClr val="FF0000"/>
                </a:solidFill>
              </a:rPr>
              <a:t>Problem Statement</a:t>
            </a:r>
            <a:br>
              <a:rPr lang="en-US" sz="3600" dirty="0">
                <a:solidFill>
                  <a:srgbClr val="FF0000"/>
                </a:solidFill>
              </a:rPr>
            </a:b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" name="Google Shape;53;p1"/>
          <p:cNvSpPr txBox="1">
            <a:spLocks noGrp="1"/>
          </p:cNvSpPr>
          <p:nvPr>
            <p:ph type="body" idx="1"/>
          </p:nvPr>
        </p:nvSpPr>
        <p:spPr>
          <a:xfrm>
            <a:off x="970855" y="1323941"/>
            <a:ext cx="7715945" cy="4210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dirty="0"/>
              <a:t>Existing Problem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0" dirty="0"/>
              <a:t>Concrete compressive strength is a critical parameter in construction.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0" dirty="0"/>
              <a:t>Traditional strength testing requires laboratory experiments and curing periods of up to 28 days.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0" dirty="0"/>
              <a:t>Testing is time-consuming, costly, and unsuitable for rapid decision-making.</a:t>
            </a:r>
          </a:p>
          <a:p>
            <a:pPr marL="228600" indent="0">
              <a:lnSpc>
                <a:spcPct val="150000"/>
              </a:lnSpc>
            </a:pPr>
            <a:endParaRPr lang="en-IN" sz="1800" dirty="0"/>
          </a:p>
          <a:p>
            <a:pPr>
              <a:lnSpc>
                <a:spcPct val="150000"/>
              </a:lnSpc>
            </a:pPr>
            <a:r>
              <a:rPr lang="en-GB" sz="1800" dirty="0"/>
              <a:t>Proposed Solution: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0" dirty="0"/>
              <a:t>Develop a machine learning-based system to predict concrete compressive strength from mix proportions. </a:t>
            </a:r>
          </a:p>
          <a:p>
            <a:pPr marL="5715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0" dirty="0"/>
              <a:t>Provide accurate and explainable predictions using advanced ML techniques.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2554357" y="461672"/>
            <a:ext cx="4180797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L</a:t>
            </a:r>
            <a:r>
              <a:rPr lang="en-IN" sz="3600" dirty="0" err="1">
                <a:solidFill>
                  <a:srgbClr val="FF0000"/>
                </a:solidFill>
              </a:rPr>
              <a:t>iterature</a:t>
            </a:r>
            <a:r>
              <a:rPr lang="en-IN" sz="3600" dirty="0">
                <a:solidFill>
                  <a:srgbClr val="FF0000"/>
                </a:solidFill>
              </a:rPr>
              <a:t> Survey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EEB99CE-EE9A-923E-F5AF-C7003C9146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986541"/>
              </p:ext>
            </p:extLst>
          </p:nvPr>
        </p:nvGraphicFramePr>
        <p:xfrm>
          <a:off x="745434" y="1679712"/>
          <a:ext cx="8010940" cy="4581196"/>
        </p:xfrm>
        <a:graphic>
          <a:graphicData uri="http://schemas.openxmlformats.org/drawingml/2006/table">
            <a:tbl>
              <a:tblPr/>
              <a:tblGrid>
                <a:gridCol w="2002735">
                  <a:extLst>
                    <a:ext uri="{9D8B030D-6E8A-4147-A177-3AD203B41FA5}">
                      <a16:colId xmlns:a16="http://schemas.microsoft.com/office/drawing/2014/main" val="403370833"/>
                    </a:ext>
                  </a:extLst>
                </a:gridCol>
                <a:gridCol w="2002735">
                  <a:extLst>
                    <a:ext uri="{9D8B030D-6E8A-4147-A177-3AD203B41FA5}">
                      <a16:colId xmlns:a16="http://schemas.microsoft.com/office/drawing/2014/main" val="2857893920"/>
                    </a:ext>
                  </a:extLst>
                </a:gridCol>
                <a:gridCol w="2002735">
                  <a:extLst>
                    <a:ext uri="{9D8B030D-6E8A-4147-A177-3AD203B41FA5}">
                      <a16:colId xmlns:a16="http://schemas.microsoft.com/office/drawing/2014/main" val="4228705305"/>
                    </a:ext>
                  </a:extLst>
                </a:gridCol>
                <a:gridCol w="2002735">
                  <a:extLst>
                    <a:ext uri="{9D8B030D-6E8A-4147-A177-3AD203B41FA5}">
                      <a16:colId xmlns:a16="http://schemas.microsoft.com/office/drawing/2014/main" val="1109122155"/>
                    </a:ext>
                  </a:extLst>
                </a:gridCol>
              </a:tblGrid>
              <a:tr h="335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Author &amp; Year</a:t>
                      </a: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Methodology</a:t>
                      </a: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Performance</a:t>
                      </a: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Limitation</a:t>
                      </a: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979279"/>
                  </a:ext>
                </a:extLst>
              </a:tr>
              <a:tr h="1165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MDA-Based Concrete Strength Prediction (2024)</a:t>
                      </a:r>
                      <a:endParaRPr lang="en-GB" sz="1400"/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Modified Dimensional Analysis (MDA), DT, RF, SVM, ANN</a:t>
                      </a: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R² = 0.94</a:t>
                      </a: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No explainability, no optimization</a:t>
                      </a: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9015552"/>
                  </a:ext>
                </a:extLst>
              </a:tr>
              <a:tr h="1165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Concrete Strength Prediction Using ML Techniques (2024)</a:t>
                      </a:r>
                      <a:endParaRPr lang="en-GB" sz="1400"/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LR, RF, DT, XGBoost, LightGBM, AdaBoost, CatBoost</a:t>
                      </a: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R² = 0.895</a:t>
                      </a: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Only prediction, lacks interpretability</a:t>
                      </a: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9276091"/>
                  </a:ext>
                </a:extLst>
              </a:tr>
              <a:tr h="10268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Interpretable ML Model for RA-SCC (2025)</a:t>
                      </a:r>
                      <a:endParaRPr lang="en-IN" sz="1400" dirty="0"/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 err="1"/>
                        <a:t>XGBoost</a:t>
                      </a:r>
                      <a:r>
                        <a:rPr lang="en-GB" sz="1400" dirty="0"/>
                        <a:t>, RF, SVR, MLP, SHAP, Bayesian Optimization</a:t>
                      </a: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R² = 0.909</a:t>
                      </a: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Small dataset, no cost/carbon analysis</a:t>
                      </a: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7730787"/>
                  </a:ext>
                </a:extLst>
              </a:tr>
              <a:tr h="8885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Concrete Strength Prediction Using ML (2024)</a:t>
                      </a:r>
                      <a:endParaRPr lang="en-GB" sz="1400" dirty="0"/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RF, SVM, Bagging Regressor</a:t>
                      </a: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R² = 0.87</a:t>
                      </a: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No explainable AI, limited optimization</a:t>
                      </a: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1188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4547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6232D14E-EE81-BEA8-21C1-542F5DEC2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>
            <a:extLst>
              <a:ext uri="{FF2B5EF4-FFF2-40B4-BE49-F238E27FC236}">
                <a16:creationId xmlns:a16="http://schemas.microsoft.com/office/drawing/2014/main" id="{CF82B9DD-BD01-BE97-517F-749705D975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24894" y="137160"/>
            <a:ext cx="4187162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Base Paper Selection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>
            <a:extLst>
              <a:ext uri="{FF2B5EF4-FFF2-40B4-BE49-F238E27FC236}">
                <a16:creationId xmlns:a16="http://schemas.microsoft.com/office/drawing/2014/main" id="{741D38C7-9908-094D-C848-9BA085FD178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5861B0-D818-95CF-EE90-A6590BB61962}"/>
              </a:ext>
            </a:extLst>
          </p:cNvPr>
          <p:cNvSpPr txBox="1"/>
          <p:nvPr/>
        </p:nvSpPr>
        <p:spPr>
          <a:xfrm>
            <a:off x="692951" y="1053096"/>
            <a:ext cx="82721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Interpretable Machine Learning Model for Compressive Strength Prediction</a:t>
            </a:r>
          </a:p>
          <a:p>
            <a:pPr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of  Self-Compacting Concrete with Recycled Concrete Aggregates and SCMs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ED4741-F249-DBBA-D644-7A5793288D1D}"/>
              </a:ext>
            </a:extLst>
          </p:cNvPr>
          <p:cNvSpPr txBox="1"/>
          <p:nvPr/>
        </p:nvSpPr>
        <p:spPr>
          <a:xfrm>
            <a:off x="692951" y="1762324"/>
            <a:ext cx="4572000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Publication Details:</a:t>
            </a:r>
          </a:p>
          <a:p>
            <a:pPr marL="285750" lvl="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Journal: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Journal of Building Engineering </a:t>
            </a:r>
          </a:p>
          <a:p>
            <a:pPr marL="285750" lvl="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Publisher: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Elsevier </a:t>
            </a:r>
          </a:p>
          <a:p>
            <a:pPr marL="285750" lvl="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Year: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 </a:t>
            </a:r>
          </a:p>
          <a:p>
            <a:pPr marL="285750" lvl="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Model: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SHAP </a:t>
            </a:r>
          </a:p>
          <a:p>
            <a:pPr marL="285750" lvl="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R² = 0.909 (90.9%)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6954E0-6CAE-DE7F-873C-3CBD6B7ECD8C}"/>
              </a:ext>
            </a:extLst>
          </p:cNvPr>
          <p:cNvSpPr txBox="1"/>
          <p:nvPr/>
        </p:nvSpPr>
        <p:spPr>
          <a:xfrm>
            <a:off x="692951" y="4185274"/>
            <a:ext cx="6150140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publication (2025)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 in a reputed journal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Explainable AI (SHAP)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clear scope for further enhancement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advanced ML techniques (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GB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485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2941964" y="577815"/>
            <a:ext cx="4961783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Research Gap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FE50B3E-8164-E04E-8E32-3BC41866D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832" y="1655330"/>
            <a:ext cx="8401377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models lack an integrated framework for strength, cost, and sustainability analysis.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Carbon emission impact of concrete mix designs is rarely considered.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research does not provide an optimal concrete mix recommendation system.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consideration of real-world construction requirements such as budget constraints.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studies mainly focus on prediction rather than decision support.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364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399163" y="215003"/>
            <a:ext cx="3098259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O</a:t>
            </a:r>
            <a:r>
              <a:rPr lang="en-IN" sz="3600" dirty="0" err="1">
                <a:solidFill>
                  <a:srgbClr val="FF0000"/>
                </a:solidFill>
              </a:rPr>
              <a:t>bjectives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4" name="Google Shape;53;p1"/>
          <p:cNvSpPr txBox="1">
            <a:spLocks noGrp="1"/>
          </p:cNvSpPr>
          <p:nvPr>
            <p:ph type="body" idx="1"/>
          </p:nvPr>
        </p:nvSpPr>
        <p:spPr>
          <a:xfrm>
            <a:off x="1517710" y="1203609"/>
            <a:ext cx="8563183" cy="978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endParaRPr lang="en-IN" b="0" dirty="0"/>
          </a:p>
          <a:p>
            <a:pPr marL="228600" indent="0"/>
            <a:endParaRPr lang="en-IN" b="0" dirty="0"/>
          </a:p>
          <a:p>
            <a:pPr marL="228600" indent="0"/>
            <a:endParaRPr lang="en-IN" b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036DB2-984A-52B7-B53C-55768F1C7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5554" y="1538739"/>
            <a:ext cx="8925339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Objective: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interpretable machine learning model for predicting concrete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compressive strength.</a:t>
            </a:r>
          </a:p>
          <a:p>
            <a:pPr>
              <a:lnSpc>
                <a:spcPct val="150000"/>
              </a:lnSpc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Objectives: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preprocess concrete datasets. 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ML models such as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CatBoost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model performance. 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predictions using SHAP. </a:t>
            </a:r>
          </a:p>
          <a:p>
            <a:pPr>
              <a:lnSpc>
                <a:spcPct val="150000"/>
              </a:lnSpc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user-friendly prediction interface.</a:t>
            </a:r>
          </a:p>
        </p:txBody>
      </p:sp>
    </p:spTree>
    <p:extLst>
      <p:ext uri="{BB962C8B-B14F-4D97-AF65-F5344CB8AC3E}">
        <p14:creationId xmlns:p14="http://schemas.microsoft.com/office/powerpoint/2010/main" val="2084557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682438" y="397052"/>
            <a:ext cx="1779124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N</a:t>
            </a:r>
            <a:r>
              <a:rPr lang="en-IN" sz="3600" dirty="0" err="1">
                <a:solidFill>
                  <a:srgbClr val="FF0000"/>
                </a:solidFill>
              </a:rPr>
              <a:t>ovelty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359565-91CB-3A74-9047-C337B83FED6A}"/>
              </a:ext>
            </a:extLst>
          </p:cNvPr>
          <p:cNvSpPr txBox="1"/>
          <p:nvPr/>
        </p:nvSpPr>
        <p:spPr>
          <a:xfrm>
            <a:off x="1172798" y="1762467"/>
            <a:ext cx="7176072" cy="33665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Novel Contributions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SHAP-based Explainability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Concrete Mix Recommendation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Cost Estimation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Carbon Emission Estimation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prediction and analysis through a web-based interface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Multi-criteria decision support considering strength, cost, and sustainability simultaneously.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0137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467147" y="257507"/>
            <a:ext cx="2824323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M</a:t>
            </a:r>
            <a:r>
              <a:rPr lang="en-IN" sz="3600" dirty="0" err="1">
                <a:solidFill>
                  <a:srgbClr val="FF0000"/>
                </a:solidFill>
              </a:rPr>
              <a:t>ethodology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4" name="Google Shape;53;p1"/>
          <p:cNvSpPr txBox="1">
            <a:spLocks noGrp="1"/>
          </p:cNvSpPr>
          <p:nvPr>
            <p:ph type="body" idx="1"/>
          </p:nvPr>
        </p:nvSpPr>
        <p:spPr>
          <a:xfrm>
            <a:off x="2963719" y="1613825"/>
            <a:ext cx="3456959" cy="4764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4600" rIns="0" bIns="0" anchor="t" anchorCtr="0">
            <a:spAutoFit/>
          </a:bodyPr>
          <a:lstStyle/>
          <a:p>
            <a:pPr marL="228600" indent="0"/>
            <a:r>
              <a:rPr lang="en-IN" sz="1800" b="0" dirty="0"/>
              <a:t>Concrete Dataset</a:t>
            </a:r>
          </a:p>
          <a:p>
            <a:pPr marL="228600" indent="0"/>
            <a:r>
              <a:rPr lang="en-IN" sz="1800" b="0" dirty="0"/>
              <a:t>        	↓</a:t>
            </a:r>
          </a:p>
          <a:p>
            <a:pPr marL="228600" indent="0"/>
            <a:r>
              <a:rPr lang="en-IN" sz="1800" b="0" dirty="0"/>
              <a:t>Preprocessing</a:t>
            </a:r>
          </a:p>
          <a:p>
            <a:pPr marL="228600" indent="0"/>
            <a:r>
              <a:rPr lang="en-IN" sz="1800" b="0" dirty="0"/>
              <a:t>        	↓</a:t>
            </a:r>
          </a:p>
          <a:p>
            <a:pPr marL="228600" indent="0"/>
            <a:r>
              <a:rPr lang="en-IN" sz="1800" b="0" dirty="0"/>
              <a:t>Feature Engineering</a:t>
            </a:r>
          </a:p>
          <a:p>
            <a:pPr marL="228600" indent="0"/>
            <a:r>
              <a:rPr lang="en-IN" sz="1800" b="0" dirty="0"/>
              <a:t>        	↓</a:t>
            </a:r>
          </a:p>
          <a:p>
            <a:pPr marL="228600" indent="0"/>
            <a:r>
              <a:rPr lang="en-IN" sz="1800" b="0" dirty="0" err="1"/>
              <a:t>XGBoost</a:t>
            </a:r>
            <a:r>
              <a:rPr lang="en-IN" sz="1800" b="0" dirty="0"/>
              <a:t> / </a:t>
            </a:r>
            <a:r>
              <a:rPr lang="en-IN" sz="1800" b="0" dirty="0" err="1"/>
              <a:t>CatBoost</a:t>
            </a:r>
            <a:endParaRPr lang="en-IN" sz="1800" b="0" dirty="0"/>
          </a:p>
          <a:p>
            <a:pPr marL="228600" indent="0"/>
            <a:r>
              <a:rPr lang="en-IN" sz="1800" b="0" dirty="0"/>
              <a:t>        	↓</a:t>
            </a:r>
          </a:p>
          <a:p>
            <a:pPr marL="228600" indent="0"/>
            <a:r>
              <a:rPr lang="en-IN" sz="1800" b="0" dirty="0"/>
              <a:t>Strength Prediction</a:t>
            </a:r>
          </a:p>
          <a:p>
            <a:pPr marL="228600" indent="0"/>
            <a:r>
              <a:rPr lang="en-IN" sz="1800" b="0" dirty="0"/>
              <a:t>        	↓</a:t>
            </a:r>
          </a:p>
          <a:p>
            <a:pPr marL="228600" indent="0"/>
            <a:r>
              <a:rPr lang="en-IN" sz="1800" b="0" dirty="0"/>
              <a:t>SHAP Analysis</a:t>
            </a:r>
          </a:p>
          <a:p>
            <a:pPr marL="228600" indent="0"/>
            <a:r>
              <a:rPr lang="en-IN" sz="1800" b="0" dirty="0"/>
              <a:t>       	↓</a:t>
            </a:r>
          </a:p>
          <a:p>
            <a:pPr marL="228600" indent="0"/>
            <a:r>
              <a:rPr lang="en-IN" sz="1800" b="0" dirty="0"/>
              <a:t>Cost &amp; Carbon Estimation</a:t>
            </a:r>
          </a:p>
          <a:p>
            <a:pPr marL="228600" indent="0"/>
            <a:r>
              <a:rPr lang="en-IN" sz="1800" b="0" dirty="0"/>
              <a:t>        	↓</a:t>
            </a:r>
          </a:p>
          <a:p>
            <a:pPr marL="228600" indent="0"/>
            <a:r>
              <a:rPr lang="en-IN" sz="1800" b="0" dirty="0"/>
              <a:t>Mix Recommendation</a:t>
            </a:r>
          </a:p>
          <a:p>
            <a:pPr marL="228600" indent="0"/>
            <a:r>
              <a:rPr lang="en-IN" sz="1800" b="0" dirty="0"/>
              <a:t>        	↓</a:t>
            </a:r>
          </a:p>
          <a:p>
            <a:pPr marL="228600" indent="0"/>
            <a:r>
              <a:rPr lang="en-IN" sz="1800" b="0" dirty="0"/>
              <a:t>Performance Evaluation</a:t>
            </a:r>
          </a:p>
        </p:txBody>
      </p:sp>
    </p:spTree>
    <p:extLst>
      <p:ext uri="{BB962C8B-B14F-4D97-AF65-F5344CB8AC3E}">
        <p14:creationId xmlns:p14="http://schemas.microsoft.com/office/powerpoint/2010/main" val="1678992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2826671" y="484219"/>
            <a:ext cx="4200295" cy="773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GB" sz="3600" dirty="0">
                <a:solidFill>
                  <a:srgbClr val="FF0000"/>
                </a:solidFill>
              </a:rPr>
              <a:t>E</a:t>
            </a:r>
            <a:r>
              <a:rPr lang="en-IN" sz="3600" dirty="0" err="1">
                <a:solidFill>
                  <a:srgbClr val="FF0000"/>
                </a:solidFill>
              </a:rPr>
              <a:t>xpected</a:t>
            </a:r>
            <a:r>
              <a:rPr lang="en-IN" sz="3600" dirty="0">
                <a:solidFill>
                  <a:srgbClr val="FF0000"/>
                </a:solidFill>
              </a:rPr>
              <a:t> Outcome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63EDBA-6E2C-89E2-F0F3-2AC9C65E9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5558" y="2058599"/>
            <a:ext cx="8593391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 prediction of concrete compressive strength.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dependency on laboratory testing.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decision-making during construction planning.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Sustainable and cost-effective concrete mix recommendations.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construction material wastage.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prediction dashboard for engineers and researchers.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resource utilization and environmental sustainability.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83552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3209943" y="2854155"/>
            <a:ext cx="5158553" cy="711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16900" rIns="0" bIns="0" anchor="t" anchorCtr="0">
            <a:spAutoFit/>
          </a:bodyPr>
          <a:lstStyle/>
          <a:p>
            <a:pPr marL="12700" lvl="0"/>
            <a:r>
              <a:rPr lang="en-IN" spc="-40" dirty="0"/>
              <a:t>THANK</a:t>
            </a:r>
            <a:r>
              <a:rPr lang="en-IN" spc="-190" dirty="0"/>
              <a:t> </a:t>
            </a:r>
            <a:r>
              <a:rPr lang="en-IN" spc="-20" dirty="0"/>
              <a:t>YOU</a:t>
            </a:r>
            <a:endParaRPr sz="3600" dirty="0">
              <a:solidFill>
                <a:srgbClr val="FF0000"/>
              </a:solidFill>
            </a:endParaRPr>
          </a:p>
        </p:txBody>
      </p:sp>
      <p:sp>
        <p:nvSpPr>
          <p:cNvPr id="64" name="Google Shape;64;p2"/>
          <p:cNvSpPr txBox="1">
            <a:spLocks noGrp="1"/>
          </p:cNvSpPr>
          <p:nvPr>
            <p:ph type="sldNum" idx="12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34909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569</Words>
  <Application>Microsoft Office PowerPoint</Application>
  <PresentationFormat>On-screen Show (4:3)</PresentationFormat>
  <Paragraphs>114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Explainable Multi-Objective Concrete Mix Optimization for Strength, Cost, and Sustainability Using Machine Learning</vt:lpstr>
      <vt:lpstr>Problem Statement </vt:lpstr>
      <vt:lpstr>Literature Survey</vt:lpstr>
      <vt:lpstr>Base Paper Selection</vt:lpstr>
      <vt:lpstr>Research Gap</vt:lpstr>
      <vt:lpstr>Objectives</vt:lpstr>
      <vt:lpstr>Novelty</vt:lpstr>
      <vt:lpstr>Methodology</vt:lpstr>
      <vt:lpstr>Expected Outcome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Deployment of E-Commerce Web Application using Jenkins and Kubernetes</dc:title>
  <dc:creator>Bhobesh adhithiyan</dc:creator>
  <cp:lastModifiedBy>NESHA RAVICHANDRAN</cp:lastModifiedBy>
  <cp:revision>36</cp:revision>
  <dcterms:created xsi:type="dcterms:W3CDTF">2025-02-28T03:17:42Z</dcterms:created>
  <dcterms:modified xsi:type="dcterms:W3CDTF">2026-06-24T17:29:20Z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2025-02-28T00:00:00Z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2025-02-28T00:00:00Z</vt:filetime>
  </property>
  <property fmtid="{D5CDD505-2E9C-101B-9397-08002B2CF9AE}" pid="5" name="Producer">
    <vt:lpwstr>Microsoft® PowerPoint® 2021</vt:lpwstr>
  </property>
</Properties>
</file>