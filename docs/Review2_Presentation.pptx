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0" r:id="rId4"/>
    <p:sldId id="263" r:id="rId5"/>
    <p:sldId id="258" r:id="rId6"/>
    <p:sldId id="272" r:id="rId7"/>
    <p:sldId id="271" r:id="rId8"/>
    <p:sldId id="262" r:id="rId9"/>
    <p:sldId id="264" r:id="rId10"/>
    <p:sldId id="273" r:id="rId11"/>
    <p:sldId id="274" r:id="rId12"/>
    <p:sldId id="275" r:id="rId13"/>
    <p:sldId id="259" r:id="rId14"/>
    <p:sldId id="277" r:id="rId15"/>
    <p:sldId id="278" r:id="rId16"/>
    <p:sldId id="276" r:id="rId17"/>
    <p:sldId id="260" r:id="rId18"/>
    <p:sldId id="279" r:id="rId19"/>
    <p:sldId id="269" r:id="rId20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jmihMLrrBZE8aYcezI03h6WiDJ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960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5" y="6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SHA RAVICHANDRAN" userId="a76c083ad29bacaa" providerId="LiveId" clId="{A57357ED-B489-4CF3-A0FE-3A5A81E88BD2}"/>
    <pc:docChg chg="undo custSel addSld modSld">
      <pc:chgData name="NESHA RAVICHANDRAN" userId="a76c083ad29bacaa" providerId="LiveId" clId="{A57357ED-B489-4CF3-A0FE-3A5A81E88BD2}" dt="2026-09-09T05:46:25.541" v="137" actId="20577"/>
      <pc:docMkLst>
        <pc:docMk/>
      </pc:docMkLst>
      <pc:sldChg chg="modSp mod">
        <pc:chgData name="NESHA RAVICHANDRAN" userId="a76c083ad29bacaa" providerId="LiveId" clId="{A57357ED-B489-4CF3-A0FE-3A5A81E88BD2}" dt="2026-09-08T16:27:36.605" v="0" actId="20577"/>
        <pc:sldMkLst>
          <pc:docMk/>
          <pc:sldMk cId="0" sldId="256"/>
        </pc:sldMkLst>
        <pc:spChg chg="mod">
          <ac:chgData name="NESHA RAVICHANDRAN" userId="a76c083ad29bacaa" providerId="LiveId" clId="{A57357ED-B489-4CF3-A0FE-3A5A81E88BD2}" dt="2026-09-08T16:27:36.605" v="0" actId="20577"/>
          <ac:spMkLst>
            <pc:docMk/>
            <pc:sldMk cId="0" sldId="256"/>
            <ac:spMk id="52" creationId="{00000000-0000-0000-0000-000000000000}"/>
          </ac:spMkLst>
        </pc:spChg>
      </pc:sldChg>
      <pc:sldChg chg="addSp delSp modSp mod">
        <pc:chgData name="NESHA RAVICHANDRAN" userId="a76c083ad29bacaa" providerId="LiveId" clId="{A57357ED-B489-4CF3-A0FE-3A5A81E88BD2}" dt="2026-09-09T05:40:50.550" v="101" actId="20577"/>
        <pc:sldMkLst>
          <pc:docMk/>
          <pc:sldMk cId="0" sldId="257"/>
        </pc:sldMkLst>
        <pc:spChg chg="add">
          <ac:chgData name="NESHA RAVICHANDRAN" userId="a76c083ad29bacaa" providerId="LiveId" clId="{A57357ED-B489-4CF3-A0FE-3A5A81E88BD2}" dt="2026-09-09T05:36:44.158" v="26"/>
          <ac:spMkLst>
            <pc:docMk/>
            <pc:sldMk cId="0" sldId="257"/>
            <ac:spMk id="2" creationId="{BEDB8E76-0467-E0DE-785F-9BF166608B4E}"/>
          </ac:spMkLst>
        </pc:spChg>
        <pc:spChg chg="add">
          <ac:chgData name="NESHA RAVICHANDRAN" userId="a76c083ad29bacaa" providerId="LiveId" clId="{A57357ED-B489-4CF3-A0FE-3A5A81E88BD2}" dt="2026-09-09T05:36:54.013" v="28"/>
          <ac:spMkLst>
            <pc:docMk/>
            <pc:sldMk cId="0" sldId="257"/>
            <ac:spMk id="3" creationId="{FC97C051-DAD0-A386-2AD5-0F7DA2B74614}"/>
          </ac:spMkLst>
        </pc:spChg>
        <pc:spChg chg="mod">
          <ac:chgData name="NESHA RAVICHANDRAN" userId="a76c083ad29bacaa" providerId="LiveId" clId="{A57357ED-B489-4CF3-A0FE-3A5A81E88BD2}" dt="2026-09-09T05:40:50.550" v="101" actId="20577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NESHA RAVICHANDRAN" userId="a76c083ad29bacaa" providerId="LiveId" clId="{A57357ED-B489-4CF3-A0FE-3A5A81E88BD2}" dt="2026-09-09T05:37:42.180" v="43"/>
          <ac:spMkLst>
            <pc:docMk/>
            <pc:sldMk cId="0" sldId="257"/>
            <ac:spMk id="5" creationId="{2DE85635-08BA-837F-3B12-B899AFA907CE}"/>
          </ac:spMkLst>
        </pc:spChg>
      </pc:sldChg>
      <pc:sldChg chg="addSp modSp mod">
        <pc:chgData name="NESHA RAVICHANDRAN" userId="a76c083ad29bacaa" providerId="LiveId" clId="{A57357ED-B489-4CF3-A0FE-3A5A81E88BD2}" dt="2026-09-09T05:45:48.050" v="134" actId="14100"/>
        <pc:sldMkLst>
          <pc:docMk/>
          <pc:sldMk cId="3624547481" sldId="258"/>
        </pc:sldMkLst>
        <pc:spChg chg="mod">
          <ac:chgData name="NESHA RAVICHANDRAN" userId="a76c083ad29bacaa" providerId="LiveId" clId="{A57357ED-B489-4CF3-A0FE-3A5A81E88BD2}" dt="2026-09-09T05:43:31.687" v="117" actId="1076"/>
          <ac:spMkLst>
            <pc:docMk/>
            <pc:sldMk cId="3624547481" sldId="258"/>
            <ac:spMk id="62" creationId="{00000000-0000-0000-0000-000000000000}"/>
          </ac:spMkLst>
        </pc:spChg>
        <pc:graphicFrameChg chg="modGraphic">
          <ac:chgData name="NESHA RAVICHANDRAN" userId="a76c083ad29bacaa" providerId="LiveId" clId="{A57357ED-B489-4CF3-A0FE-3A5A81E88BD2}" dt="2026-09-09T05:42:26.426" v="108" actId="21"/>
          <ac:graphicFrameMkLst>
            <pc:docMk/>
            <pc:sldMk cId="3624547481" sldId="258"/>
            <ac:graphicFrameMk id="2" creationId="{5EEB99CE-EE9A-923E-F5AF-C7003C914612}"/>
          </ac:graphicFrameMkLst>
        </pc:graphicFrameChg>
        <pc:graphicFrameChg chg="add mod modGraphic">
          <ac:chgData name="NESHA RAVICHANDRAN" userId="a76c083ad29bacaa" providerId="LiveId" clId="{A57357ED-B489-4CF3-A0FE-3A5A81E88BD2}" dt="2026-09-09T05:45:48.050" v="134" actId="14100"/>
          <ac:graphicFrameMkLst>
            <pc:docMk/>
            <pc:sldMk cId="3624547481" sldId="258"/>
            <ac:graphicFrameMk id="3" creationId="{360CE22A-B800-BB75-956D-C40A9C8711A7}"/>
          </ac:graphicFrameMkLst>
        </pc:graphicFrameChg>
      </pc:sldChg>
      <pc:sldChg chg="modSp mod">
        <pc:chgData name="NESHA RAVICHANDRAN" userId="a76c083ad29bacaa" providerId="LiveId" clId="{A57357ED-B489-4CF3-A0FE-3A5A81E88BD2}" dt="2026-09-09T05:46:25.541" v="137" actId="20577"/>
        <pc:sldMkLst>
          <pc:docMk/>
          <pc:sldMk cId="3460137708" sldId="264"/>
        </pc:sldMkLst>
        <pc:spChg chg="mod">
          <ac:chgData name="NESHA RAVICHANDRAN" userId="a76c083ad29bacaa" providerId="LiveId" clId="{A57357ED-B489-4CF3-A0FE-3A5A81E88BD2}" dt="2026-09-09T05:46:25.541" v="137" actId="20577"/>
          <ac:spMkLst>
            <pc:docMk/>
            <pc:sldMk cId="3460137708" sldId="264"/>
            <ac:spMk id="4" creationId="{B6359565-91CB-3A74-9047-C337B83FED6A}"/>
          </ac:spMkLst>
        </pc:spChg>
      </pc:sldChg>
      <pc:sldChg chg="modSp mod">
        <pc:chgData name="NESHA RAVICHANDRAN" userId="a76c083ad29bacaa" providerId="LiveId" clId="{A57357ED-B489-4CF3-A0FE-3A5A81E88BD2}" dt="2026-09-09T05:46:02.404" v="136" actId="1076"/>
        <pc:sldMkLst>
          <pc:docMk/>
          <pc:sldMk cId="1811485604" sldId="271"/>
        </pc:sldMkLst>
        <pc:spChg chg="mod">
          <ac:chgData name="NESHA RAVICHANDRAN" userId="a76c083ad29bacaa" providerId="LiveId" clId="{A57357ED-B489-4CF3-A0FE-3A5A81E88BD2}" dt="2026-09-09T05:45:59.374" v="135" actId="1076"/>
          <ac:spMkLst>
            <pc:docMk/>
            <pc:sldMk cId="1811485604" sldId="271"/>
            <ac:spMk id="6" creationId="{E1ED4741-F249-DBBA-D644-7A5793288D1D}"/>
          </ac:spMkLst>
        </pc:spChg>
        <pc:spChg chg="mod">
          <ac:chgData name="NESHA RAVICHANDRAN" userId="a76c083ad29bacaa" providerId="LiveId" clId="{A57357ED-B489-4CF3-A0FE-3A5A81E88BD2}" dt="2026-09-09T05:46:02.404" v="136" actId="1076"/>
          <ac:spMkLst>
            <pc:docMk/>
            <pc:sldMk cId="1811485604" sldId="271"/>
            <ac:spMk id="8" creationId="{BF6954E0-6CAE-DE7F-873C-3CBD6B7ECD8C}"/>
          </ac:spMkLst>
        </pc:spChg>
      </pc:sldChg>
      <pc:sldChg chg="addSp modSp mod">
        <pc:chgData name="NESHA RAVICHANDRAN" userId="a76c083ad29bacaa" providerId="LiveId" clId="{A57357ED-B489-4CF3-A0FE-3A5A81E88BD2}" dt="2026-09-09T05:45:28.489" v="133" actId="14100"/>
        <pc:sldMkLst>
          <pc:docMk/>
          <pc:sldMk cId="3624547481" sldId="272"/>
        </pc:sldMkLst>
        <pc:spChg chg="mod">
          <ac:chgData name="NESHA RAVICHANDRAN" userId="a76c083ad29bacaa" providerId="LiveId" clId="{A57357ED-B489-4CF3-A0FE-3A5A81E88BD2}" dt="2026-09-09T05:44:51.209" v="128" actId="1076"/>
          <ac:spMkLst>
            <pc:docMk/>
            <pc:sldMk cId="3624547481" sldId="272"/>
            <ac:spMk id="62" creationId="{00000000-0000-0000-0000-000000000000}"/>
          </ac:spMkLst>
        </pc:spChg>
        <pc:graphicFrameChg chg="modGraphic">
          <ac:chgData name="NESHA RAVICHANDRAN" userId="a76c083ad29bacaa" providerId="LiveId" clId="{A57357ED-B489-4CF3-A0FE-3A5A81E88BD2}" dt="2026-09-09T05:44:15.789" v="119" actId="21"/>
          <ac:graphicFrameMkLst>
            <pc:docMk/>
            <pc:sldMk cId="3624547481" sldId="272"/>
            <ac:graphicFrameMk id="2" creationId="{5EEB99CE-EE9A-923E-F5AF-C7003C914612}"/>
          </ac:graphicFrameMkLst>
        </pc:graphicFrameChg>
        <pc:graphicFrameChg chg="add mod modGraphic">
          <ac:chgData name="NESHA RAVICHANDRAN" userId="a76c083ad29bacaa" providerId="LiveId" clId="{A57357ED-B489-4CF3-A0FE-3A5A81E88BD2}" dt="2026-09-09T05:45:28.489" v="133" actId="14100"/>
          <ac:graphicFrameMkLst>
            <pc:docMk/>
            <pc:sldMk cId="3624547481" sldId="272"/>
            <ac:graphicFrameMk id="3" creationId="{C6BDE762-6700-1FC2-BA21-9290114201DE}"/>
          </ac:graphicFrameMkLst>
        </pc:graphicFrameChg>
      </pc:sldChg>
      <pc:sldChg chg="modSp new mod">
        <pc:chgData name="NESHA RAVICHANDRAN" userId="a76c083ad29bacaa" providerId="LiveId" clId="{A57357ED-B489-4CF3-A0FE-3A5A81E88BD2}" dt="2026-09-08T16:34:35.197" v="22" actId="113"/>
        <pc:sldMkLst>
          <pc:docMk/>
          <pc:sldMk cId="2049178424" sldId="279"/>
        </pc:sldMkLst>
        <pc:spChg chg="mod">
          <ac:chgData name="NESHA RAVICHANDRAN" userId="a76c083ad29bacaa" providerId="LiveId" clId="{A57357ED-B489-4CF3-A0FE-3A5A81E88BD2}" dt="2026-09-08T16:33:25.097" v="13" actId="1076"/>
          <ac:spMkLst>
            <pc:docMk/>
            <pc:sldMk cId="2049178424" sldId="279"/>
            <ac:spMk id="2" creationId="{7141DED8-A755-6565-BDEA-B363785EF9DE}"/>
          </ac:spMkLst>
        </pc:spChg>
        <pc:spChg chg="mod">
          <ac:chgData name="NESHA RAVICHANDRAN" userId="a76c083ad29bacaa" providerId="LiveId" clId="{A57357ED-B489-4CF3-A0FE-3A5A81E88BD2}" dt="2026-09-08T16:34:35.197" v="22" actId="113"/>
          <ac:spMkLst>
            <pc:docMk/>
            <pc:sldMk cId="2049178424" sldId="279"/>
            <ac:spMk id="3" creationId="{749EFA2B-1DFB-6A31-2FAE-2A6DF3E35EF9}"/>
          </ac:spMkLst>
        </pc:spChg>
      </pc:sldChg>
      <pc:sldChg chg="addSp delSp modSp new mod">
        <pc:chgData name="NESHA RAVICHANDRAN" userId="a76c083ad29bacaa" providerId="LiveId" clId="{A57357ED-B489-4CF3-A0FE-3A5A81E88BD2}" dt="2026-09-09T05:41:27.023" v="106" actId="1076"/>
        <pc:sldMkLst>
          <pc:docMk/>
          <pc:sldMk cId="2875800013" sldId="280"/>
        </pc:sldMkLst>
        <pc:spChg chg="mod">
          <ac:chgData name="NESHA RAVICHANDRAN" userId="a76c083ad29bacaa" providerId="LiveId" clId="{A57357ED-B489-4CF3-A0FE-3A5A81E88BD2}" dt="2026-09-09T05:39:50.248" v="77" actId="1076"/>
          <ac:spMkLst>
            <pc:docMk/>
            <pc:sldMk cId="2875800013" sldId="280"/>
            <ac:spMk id="2" creationId="{F0CC954A-0D69-ECA1-78B3-BC457C84DA73}"/>
          </ac:spMkLst>
        </pc:spChg>
        <pc:spChg chg="del">
          <ac:chgData name="NESHA RAVICHANDRAN" userId="a76c083ad29bacaa" providerId="LiveId" clId="{A57357ED-B489-4CF3-A0FE-3A5A81E88BD2}" dt="2026-09-09T05:40:06.609" v="78"/>
          <ac:spMkLst>
            <pc:docMk/>
            <pc:sldMk cId="2875800013" sldId="280"/>
            <ac:spMk id="3" creationId="{96688EE6-0B74-2AF3-653C-FBE3CBE01198}"/>
          </ac:spMkLst>
        </pc:spChg>
        <pc:spChg chg="add mod">
          <ac:chgData name="NESHA RAVICHANDRAN" userId="a76c083ad29bacaa" providerId="LiveId" clId="{A57357ED-B489-4CF3-A0FE-3A5A81E88BD2}" dt="2026-09-09T05:41:27.023" v="106" actId="1076"/>
          <ac:spMkLst>
            <pc:docMk/>
            <pc:sldMk cId="2875800013" sldId="280"/>
            <ac:spMk id="5" creationId="{909268B2-397C-162E-AB39-714A6F28AA6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0884616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00933E87-5C11-3150-3F05-8896B8934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60E1B26B-17EA-AD8E-7121-C44CBAE90A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9BA26095-9FCE-F6DB-A302-A38E89D9CA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9126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144000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9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1"/>
          <p:cNvGrpSpPr/>
          <p:nvPr/>
        </p:nvGrpSpPr>
        <p:grpSpPr>
          <a:xfrm>
            <a:off x="0" y="0"/>
            <a:ext cx="3067050" cy="6857998"/>
            <a:chOff x="0" y="0"/>
            <a:chExt cx="3067050" cy="6857998"/>
          </a:xfrm>
        </p:grpSpPr>
        <p:pic>
          <p:nvPicPr>
            <p:cNvPr id="49" name="Google Shape;49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3067050" cy="6857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4000" y="1338452"/>
              <a:ext cx="1479041" cy="1389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1000" y="4495812"/>
              <a:ext cx="1479041" cy="18413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" name="Google Shape;52;p1"/>
          <p:cNvSpPr txBox="1">
            <a:spLocks noGrp="1"/>
          </p:cNvSpPr>
          <p:nvPr>
            <p:ph type="title"/>
          </p:nvPr>
        </p:nvSpPr>
        <p:spPr>
          <a:xfrm>
            <a:off x="3003041" y="285285"/>
            <a:ext cx="6312310" cy="2229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22CSP72 – PROJECT WORK II PHASE I</a:t>
            </a:r>
            <a:br>
              <a:rPr lang="en-US" sz="2400" dirty="0"/>
            </a:br>
            <a:r>
              <a:rPr lang="en-US" sz="2400" dirty="0"/>
              <a:t>II Review</a:t>
            </a:r>
            <a:br>
              <a:rPr lang="en-GB" sz="2400" dirty="0"/>
            </a:br>
            <a:br>
              <a:rPr lang="en-GB" sz="2400" dirty="0"/>
            </a:br>
            <a:r>
              <a:rPr lang="en-GB" sz="2400" dirty="0"/>
              <a:t>Explainable Multi-Objective Concrete Mix Optimization for Strength, Cost, and Sustainability Using Machine Learning</a:t>
            </a:r>
          </a:p>
        </p:txBody>
      </p:sp>
      <p:sp>
        <p:nvSpPr>
          <p:cNvPr id="53" name="Google Shape;53;p1"/>
          <p:cNvSpPr txBox="1">
            <a:spLocks noGrp="1"/>
          </p:cNvSpPr>
          <p:nvPr>
            <p:ph type="body" idx="1"/>
          </p:nvPr>
        </p:nvSpPr>
        <p:spPr>
          <a:xfrm>
            <a:off x="4572000" y="3209573"/>
            <a:ext cx="5257801" cy="2517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dirty="0"/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MIDUNA R </a:t>
            </a:r>
            <a:r>
              <a:rPr lang="en-US" b="0" dirty="0">
                <a:latin typeface="Times New Roman"/>
                <a:ea typeface="Times New Roman"/>
                <a:cs typeface="Times New Roman"/>
                <a:sym typeface="Times New Roman"/>
              </a:rPr>
              <a:t>(23CSR131)</a:t>
            </a:r>
            <a:endParaRPr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latin typeface="Times New Roman"/>
                <a:ea typeface="Times New Roman"/>
                <a:cs typeface="Times New Roman"/>
                <a:sym typeface="Times New Roman"/>
              </a:rPr>
              <a:t>NESHA R K(23CSR147) </a:t>
            </a:r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ROHITH O R(23CSR180)</a:t>
            </a:r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8975" marR="618490" lvl="0" indent="-65405"/>
            <a:r>
              <a:rPr lang="en-IN" dirty="0"/>
              <a:t>MENTOR</a:t>
            </a:r>
            <a:r>
              <a:rPr lang="en-IN" b="0" dirty="0"/>
              <a:t> : </a:t>
            </a:r>
          </a:p>
          <a:p>
            <a:pPr marL="688975" marR="618490" lvl="0" indent="-65405"/>
            <a:r>
              <a:rPr lang="en-IN" b="0" dirty="0"/>
              <a:t>Mr T ARUNKUMAR</a:t>
            </a:r>
          </a:p>
          <a:p>
            <a:pPr marL="688975" marR="618490" lvl="0" indent="-65405"/>
            <a:r>
              <a:rPr lang="en-IN" b="0" dirty="0"/>
              <a:t>Assistant Professor  / CSE</a:t>
            </a:r>
            <a:endParaRPr b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3109383" y="6092143"/>
            <a:ext cx="5236209" cy="62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/>
            <a:br>
              <a:rPr lang="en-IN" sz="2000" b="1" spc="-10" dirty="0">
                <a:latin typeface="Times New Roman"/>
                <a:cs typeface="Times New Roman"/>
              </a:rPr>
            </a:br>
            <a:r>
              <a:rPr lang="en-US" sz="20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Date:12.09.2026</a:t>
            </a:r>
            <a:endParaRPr sz="2000" b="0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962638" y="294175"/>
            <a:ext cx="4672602" cy="132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0000"/>
                </a:solidFill>
              </a:rPr>
              <a:t>Problem Statement</a:t>
            </a:r>
            <a:br>
              <a:rPr lang="en-US" sz="3600" dirty="0">
                <a:solidFill>
                  <a:srgbClr val="FF0000"/>
                </a:solidFill>
              </a:rPr>
            </a:b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970855" y="1323941"/>
            <a:ext cx="7715945" cy="4625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228600" indent="0">
              <a:lnSpc>
                <a:spcPct val="150000"/>
              </a:lnSpc>
            </a:pPr>
            <a:endParaRPr lang="en-US" altLang="en-US" sz="1800" b="0" dirty="0">
              <a:solidFill>
                <a:schemeClr val="tx1"/>
              </a:solidFill>
              <a:latin typeface="Times New Roman" panose="02020603050405020304" pitchFamily="18" charset="0"/>
              <a:ea typeface="SimSun-ExtG" panose="02010609060101010101" pitchFamily="49" charset="-122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Concrete compressive strength is a critical factor in ensuring structural safety and durability.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Conventional strength testing requires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laboratory experiments and long curing periods</a:t>
            </a:r>
            <a:r>
              <a:rPr lang="en-US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, typically up to 28 days.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The testing process is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time-consuming and costly</a:t>
            </a:r>
            <a:r>
              <a:rPr lang="en-US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Delayed test results make it difficult to take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quick decisions during construction</a:t>
            </a:r>
            <a:r>
              <a:rPr lang="en-US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Therefore, there is a need for a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faster and reliable approach</a:t>
            </a:r>
            <a:r>
              <a:rPr lang="en-US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</a:rPr>
              <a:t> to estimate concrete strength </a:t>
            </a:r>
          </a:p>
          <a:p>
            <a:pPr marL="228600" indent="0">
              <a:lnSpc>
                <a:spcPct val="150000"/>
              </a:lnSpc>
            </a:pPr>
            <a:endParaRPr lang="en-GB" sz="1800" dirty="0">
              <a:latin typeface="Times New Roman" panose="02020603050405020304" pitchFamily="18" charset="0"/>
              <a:ea typeface="SimSun-ExtG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C954A-0D69-ECA1-78B3-BC457C84D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4826" y="346876"/>
            <a:ext cx="7772400" cy="553998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Proposed </a:t>
            </a:r>
            <a:r>
              <a:rPr lang="en-GB" sz="3600" dirty="0">
                <a:solidFill>
                  <a:srgbClr val="FF0000"/>
                </a:solidFill>
              </a:rPr>
              <a:t>Solution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4EDB3-656C-2F38-ACBE-707B95257A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09268B2-397C-162E-AB39-714A6F28AA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83974" y="1648761"/>
            <a:ext cx="8040757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predict concrete compressive strength.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concrete mix parameters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cement, water, aggregates, and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 as input features.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ML models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historical concrete strength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most suitable model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strength prediction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and explainable predictions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support construction decision-making. </a:t>
            </a:r>
          </a:p>
        </p:txBody>
      </p:sp>
    </p:spTree>
    <p:extLst>
      <p:ext uri="{BB962C8B-B14F-4D97-AF65-F5344CB8AC3E}">
        <p14:creationId xmlns:p14="http://schemas.microsoft.com/office/powerpoint/2010/main" val="2875800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262003" y="827651"/>
            <a:ext cx="3098259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 algn="ctr"/>
            <a:r>
              <a:rPr lang="en-GB" sz="3600" dirty="0">
                <a:solidFill>
                  <a:srgbClr val="FF0000"/>
                </a:solidFill>
              </a:rPr>
              <a:t>O</a:t>
            </a:r>
            <a:r>
              <a:rPr lang="en-IN" sz="3600" dirty="0" err="1">
                <a:solidFill>
                  <a:srgbClr val="FF0000"/>
                </a:solidFill>
              </a:rPr>
              <a:t>bjectives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036DB2-984A-52B7-B53C-55768F1C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554" y="2161217"/>
            <a:ext cx="8925339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concrete compressive strength.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Machine Learning models.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predictions using SHAP.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cost and carbon emission.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the best concrete mix.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dashboard. </a:t>
            </a:r>
          </a:p>
        </p:txBody>
      </p:sp>
    </p:spTree>
    <p:extLst>
      <p:ext uri="{BB962C8B-B14F-4D97-AF65-F5344CB8AC3E}">
        <p14:creationId xmlns:p14="http://schemas.microsoft.com/office/powerpoint/2010/main" val="2084557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660505" y="178960"/>
            <a:ext cx="4180797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 algn="ctr"/>
            <a:r>
              <a:rPr lang="en-GB" sz="3600" dirty="0">
                <a:solidFill>
                  <a:srgbClr val="FF0000"/>
                </a:solidFill>
              </a:rPr>
              <a:t>L</a:t>
            </a:r>
            <a:r>
              <a:rPr lang="en-IN" sz="3600" dirty="0" err="1">
                <a:solidFill>
                  <a:srgbClr val="FF0000"/>
                </a:solidFill>
              </a:rPr>
              <a:t>iterature</a:t>
            </a:r>
            <a:r>
              <a:rPr lang="en-IN" sz="3600" dirty="0">
                <a:solidFill>
                  <a:srgbClr val="FF0000"/>
                </a:solidFill>
              </a:rPr>
              <a:t> Survey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EB99CE-EE9A-923E-F5AF-C7003C914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762253"/>
              </p:ext>
            </p:extLst>
          </p:nvPr>
        </p:nvGraphicFramePr>
        <p:xfrm>
          <a:off x="745434" y="1679712"/>
          <a:ext cx="8010940" cy="4581196"/>
        </p:xfrm>
        <a:graphic>
          <a:graphicData uri="http://schemas.openxmlformats.org/drawingml/2006/table">
            <a:tbl>
              <a:tblPr firstRow="1" bandRow="1"/>
              <a:tblGrid>
                <a:gridCol w="1602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52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52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52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52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0CE22A-B800-BB75-956D-C40A9C871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311230"/>
              </p:ext>
            </p:extLst>
          </p:nvPr>
        </p:nvGraphicFramePr>
        <p:xfrm>
          <a:off x="745434" y="1397000"/>
          <a:ext cx="8169965" cy="486390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33993">
                  <a:extLst>
                    <a:ext uri="{9D8B030D-6E8A-4147-A177-3AD203B41FA5}">
                      <a16:colId xmlns:a16="http://schemas.microsoft.com/office/drawing/2014/main" val="1069783889"/>
                    </a:ext>
                  </a:extLst>
                </a:gridCol>
                <a:gridCol w="1633993">
                  <a:extLst>
                    <a:ext uri="{9D8B030D-6E8A-4147-A177-3AD203B41FA5}">
                      <a16:colId xmlns:a16="http://schemas.microsoft.com/office/drawing/2014/main" val="246868098"/>
                    </a:ext>
                  </a:extLst>
                </a:gridCol>
                <a:gridCol w="1633993">
                  <a:extLst>
                    <a:ext uri="{9D8B030D-6E8A-4147-A177-3AD203B41FA5}">
                      <a16:colId xmlns:a16="http://schemas.microsoft.com/office/drawing/2014/main" val="330398709"/>
                    </a:ext>
                  </a:extLst>
                </a:gridCol>
                <a:gridCol w="1633993">
                  <a:extLst>
                    <a:ext uri="{9D8B030D-6E8A-4147-A177-3AD203B41FA5}">
                      <a16:colId xmlns:a16="http://schemas.microsoft.com/office/drawing/2014/main" val="2369693789"/>
                    </a:ext>
                  </a:extLst>
                </a:gridCol>
                <a:gridCol w="1633993">
                  <a:extLst>
                    <a:ext uri="{9D8B030D-6E8A-4147-A177-3AD203B41FA5}">
                      <a16:colId xmlns:a16="http://schemas.microsoft.com/office/drawing/2014/main" val="691368567"/>
                    </a:ext>
                  </a:extLst>
                </a:gridCol>
              </a:tblGrid>
              <a:tr h="69812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400" b="1" dirty="0"/>
                        <a:t>Author &amp; Year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400" b="1" dirty="0"/>
                        <a:t>Methodology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400" b="1" dirty="0"/>
                        <a:t>Best Model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400" b="1" dirty="0"/>
                        <a:t>Performance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400" b="1" dirty="0"/>
                        <a:t>Limitations</a:t>
                      </a:r>
                    </a:p>
                  </a:txBody>
                  <a:tcPr marL="27432" marR="27432" marT="13716" marB="13716" anchor="ctr"/>
                </a:tc>
                <a:extLst>
                  <a:ext uri="{0D108BD9-81ED-4DB2-BD59-A6C34878D82A}">
                    <a16:rowId xmlns:a16="http://schemas.microsoft.com/office/drawing/2014/main" val="708866564"/>
                  </a:ext>
                </a:extLst>
              </a:tr>
              <a:tr h="10414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MDA-Based Concrete Strength Prediction (2024)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Modified Dimensional Analysis (MDA), DT, RF, SVM, ANN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MDA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R² = 0.94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No explainability, no optimization</a:t>
                      </a:r>
                    </a:p>
                  </a:txBody>
                  <a:tcPr marL="27432" marR="27432" marT="13716" marB="13716" anchor="ctr"/>
                </a:tc>
                <a:extLst>
                  <a:ext uri="{0D108BD9-81ED-4DB2-BD59-A6C34878D82A}">
                    <a16:rowId xmlns:a16="http://schemas.microsoft.com/office/drawing/2014/main" val="3169951282"/>
                  </a:ext>
                </a:extLst>
              </a:tr>
              <a:tr h="10414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Concrete Strength Prediction Using ML Techniques (2024)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LR, RF, DT, XGBoost, LightGBM, AdaBoost, CatBoost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LightGBM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R² = 0.895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Only prediction, lacks interpretability</a:t>
                      </a:r>
                    </a:p>
                  </a:txBody>
                  <a:tcPr marL="27432" marR="27432" marT="13716" marB="13716" anchor="ctr"/>
                </a:tc>
                <a:extLst>
                  <a:ext uri="{0D108BD9-81ED-4DB2-BD59-A6C34878D82A}">
                    <a16:rowId xmlns:a16="http://schemas.microsoft.com/office/drawing/2014/main" val="550761986"/>
                  </a:ext>
                </a:extLst>
              </a:tr>
              <a:tr h="10414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Interpretable ML Model for RA-SCC (2025)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XGBoost, RF, SVR, MLP, SHAP, Bayesian Optimization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XGBoost + SHAP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R² = 0.909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Small dataset, no cost/carbon analysis</a:t>
                      </a:r>
                    </a:p>
                  </a:txBody>
                  <a:tcPr marL="27432" marR="27432" marT="13716" marB="13716" anchor="ctr"/>
                </a:tc>
                <a:extLst>
                  <a:ext uri="{0D108BD9-81ED-4DB2-BD59-A6C34878D82A}">
                    <a16:rowId xmlns:a16="http://schemas.microsoft.com/office/drawing/2014/main" val="943590563"/>
                  </a:ext>
                </a:extLst>
              </a:tr>
              <a:tr h="10414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Concrete Strength Prediction Using ML (2024)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RF, SVM, Bagging Regressor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Random Forest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R² = 0.87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No explainable AI, limited optimization</a:t>
                      </a:r>
                    </a:p>
                  </a:txBody>
                  <a:tcPr marL="27432" marR="27432" marT="13716" marB="13716" anchor="ctr"/>
                </a:tc>
                <a:extLst>
                  <a:ext uri="{0D108BD9-81ED-4DB2-BD59-A6C34878D82A}">
                    <a16:rowId xmlns:a16="http://schemas.microsoft.com/office/drawing/2014/main" val="1202582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547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789043" y="96119"/>
            <a:ext cx="5180798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 algn="ctr"/>
            <a:r>
              <a:rPr lang="en-GB" sz="3600" dirty="0">
                <a:solidFill>
                  <a:srgbClr val="FF0000"/>
                </a:solidFill>
              </a:rPr>
              <a:t>         L</a:t>
            </a:r>
            <a:r>
              <a:rPr lang="en-IN" sz="3600" dirty="0" err="1">
                <a:solidFill>
                  <a:srgbClr val="FF0000"/>
                </a:solidFill>
              </a:rPr>
              <a:t>iterature</a:t>
            </a:r>
            <a:r>
              <a:rPr lang="en-IN" sz="3600" dirty="0">
                <a:solidFill>
                  <a:srgbClr val="FF0000"/>
                </a:solidFill>
              </a:rPr>
              <a:t> Survey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EB99CE-EE9A-923E-F5AF-C7003C914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671166"/>
              </p:ext>
            </p:extLst>
          </p:nvPr>
        </p:nvGraphicFramePr>
        <p:xfrm>
          <a:off x="745434" y="1679712"/>
          <a:ext cx="8010940" cy="4581196"/>
        </p:xfrm>
        <a:graphic>
          <a:graphicData uri="http://schemas.openxmlformats.org/drawingml/2006/table">
            <a:tbl>
              <a:tblPr firstRow="1" bandRow="1"/>
              <a:tblGrid>
                <a:gridCol w="1602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1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52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52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52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52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50" dirty="0"/>
                    </a:p>
                  </a:txBody>
                  <a:tcPr marL="27432" marR="27432" marT="13716" marB="13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BDE762-6700-1FC2-BA21-92901142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913111"/>
              </p:ext>
            </p:extLst>
          </p:nvPr>
        </p:nvGraphicFramePr>
        <p:xfrm>
          <a:off x="824949" y="1396998"/>
          <a:ext cx="8010940" cy="486390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02188">
                  <a:extLst>
                    <a:ext uri="{9D8B030D-6E8A-4147-A177-3AD203B41FA5}">
                      <a16:colId xmlns:a16="http://schemas.microsoft.com/office/drawing/2014/main" val="3408173653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3054868960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1799582070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2097490834"/>
                    </a:ext>
                  </a:extLst>
                </a:gridCol>
                <a:gridCol w="1602188">
                  <a:extLst>
                    <a:ext uri="{9D8B030D-6E8A-4147-A177-3AD203B41FA5}">
                      <a16:colId xmlns:a16="http://schemas.microsoft.com/office/drawing/2014/main" val="440621748"/>
                    </a:ext>
                  </a:extLst>
                </a:gridCol>
              </a:tblGrid>
              <a:tr h="6537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400" b="1" dirty="0"/>
                        <a:t>Author &amp; Year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400" b="1" dirty="0"/>
                        <a:t>Methodology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400" b="1" dirty="0"/>
                        <a:t>Best Model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400" b="1" dirty="0"/>
                        <a:t>Performance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400" b="1" dirty="0"/>
                        <a:t>Limitations</a:t>
                      </a:r>
                    </a:p>
                  </a:txBody>
                  <a:tcPr marL="27432" marR="27432" marT="13716" marB="13716" anchor="ctr"/>
                </a:tc>
                <a:extLst>
                  <a:ext uri="{0D108BD9-81ED-4DB2-BD59-A6C34878D82A}">
                    <a16:rowId xmlns:a16="http://schemas.microsoft.com/office/drawing/2014/main" val="1472946845"/>
                  </a:ext>
                </a:extLst>
              </a:tr>
              <a:tr h="12842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Alsaadawi et al. – Hybrid ML with Interactive GUI (2025)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RF, AdaBoost, XGBoost, LightGBM, CatBoost + Bayesian Optimization + SHAP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LightGBM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Accuracy up to 93.5%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Classification only, not mix optimization</a:t>
                      </a:r>
                    </a:p>
                  </a:txBody>
                  <a:tcPr marL="27432" marR="27432" marT="13716" marB="13716" anchor="ctr"/>
                </a:tc>
                <a:extLst>
                  <a:ext uri="{0D108BD9-81ED-4DB2-BD59-A6C34878D82A}">
                    <a16:rowId xmlns:a16="http://schemas.microsoft.com/office/drawing/2014/main" val="3771443769"/>
                  </a:ext>
                </a:extLst>
              </a:tr>
              <a:tr h="97528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Abioye et al. – SHAP Analysis for HPC Strength (2025)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XGBoost, GBR, RF, SVR, ANN, KNN + Grid Search + SHAP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XGBoost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R² = 93.49%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Prediction only, no cost optimization</a:t>
                      </a:r>
                    </a:p>
                  </a:txBody>
                  <a:tcPr marL="27432" marR="27432" marT="13716" marB="13716" anchor="ctr"/>
                </a:tc>
                <a:extLst>
                  <a:ext uri="{0D108BD9-81ED-4DB2-BD59-A6C34878D82A}">
                    <a16:rowId xmlns:a16="http://schemas.microsoft.com/office/drawing/2014/main" val="3078906"/>
                  </a:ext>
                </a:extLst>
              </a:tr>
              <a:tr h="97528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Shaaban et al. – Forecasting HSC Strength (2025)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XGBoost, RF, ANN, SVR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XGBoost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R² ≈ 0.94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No explainability or sustainability analysis</a:t>
                      </a:r>
                    </a:p>
                  </a:txBody>
                  <a:tcPr marL="27432" marR="27432" marT="13716" marB="13716" anchor="ctr"/>
                </a:tc>
                <a:extLst>
                  <a:ext uri="{0D108BD9-81ED-4DB2-BD59-A6C34878D82A}">
                    <a16:rowId xmlns:a16="http://schemas.microsoft.com/office/drawing/2014/main" val="4120111665"/>
                  </a:ext>
                </a:extLst>
              </a:tr>
              <a:tr h="97528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Sapkota et al. – Explainable ML for HSC Strength (2025)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XGBoost + Metaheuristic Optimization + SHAP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LS-XGB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R² &gt; 0.96</a:t>
                      </a:r>
                    </a:p>
                  </a:txBody>
                  <a:tcPr marL="27432" marR="27432" marT="13716" marB="137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150" dirty="0"/>
                        <a:t>Limited to high-strength concrete dataset</a:t>
                      </a:r>
                    </a:p>
                  </a:txBody>
                  <a:tcPr marL="27432" marR="27432" marT="13716" marB="13716" anchor="ctr"/>
                </a:tc>
                <a:extLst>
                  <a:ext uri="{0D108BD9-81ED-4DB2-BD59-A6C34878D82A}">
                    <a16:rowId xmlns:a16="http://schemas.microsoft.com/office/drawing/2014/main" val="354333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54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232D14E-EE81-BEA8-21C1-542F5DEC2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>
            <a:extLst>
              <a:ext uri="{FF2B5EF4-FFF2-40B4-BE49-F238E27FC236}">
                <a16:creationId xmlns:a16="http://schemas.microsoft.com/office/drawing/2014/main" id="{CF82B9DD-BD01-BE97-517F-749705D975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24894" y="137160"/>
            <a:ext cx="4187162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Base Paper Selection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>
            <a:extLst>
              <a:ext uri="{FF2B5EF4-FFF2-40B4-BE49-F238E27FC236}">
                <a16:creationId xmlns:a16="http://schemas.microsoft.com/office/drawing/2014/main" id="{741D38C7-9908-094D-C848-9BA085FD17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861B0-D818-95CF-EE90-A6590BB61962}"/>
              </a:ext>
            </a:extLst>
          </p:cNvPr>
          <p:cNvSpPr txBox="1"/>
          <p:nvPr/>
        </p:nvSpPr>
        <p:spPr>
          <a:xfrm>
            <a:off x="692951" y="1053096"/>
            <a:ext cx="8272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Machine Learning Model for Compressive Strength Prediction</a:t>
            </a:r>
          </a:p>
          <a:p>
            <a:pPr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of  Self-Compacting Concrete with Recycled Concrete Aggregates and SCMs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ED4741-F249-DBBA-D644-7A5793288D1D}"/>
              </a:ext>
            </a:extLst>
          </p:cNvPr>
          <p:cNvSpPr txBox="1"/>
          <p:nvPr/>
        </p:nvSpPr>
        <p:spPr>
          <a:xfrm>
            <a:off x="692951" y="1649708"/>
            <a:ext cx="4572000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Details:</a:t>
            </a:r>
          </a:p>
          <a:p>
            <a:pPr marL="285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 of Building Engineering </a:t>
            </a:r>
          </a:p>
          <a:p>
            <a:pPr marL="285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Elsevier </a:t>
            </a:r>
          </a:p>
          <a:p>
            <a:pPr marL="285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 </a:t>
            </a:r>
          </a:p>
          <a:p>
            <a:pPr marL="285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SHAP </a:t>
            </a:r>
          </a:p>
          <a:p>
            <a:pPr marL="285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R² = 0.909 (90.9%)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6954E0-6CAE-DE7F-873C-3CBD6B7ECD8C}"/>
              </a:ext>
            </a:extLst>
          </p:cNvPr>
          <p:cNvSpPr txBox="1"/>
          <p:nvPr/>
        </p:nvSpPr>
        <p:spPr>
          <a:xfrm>
            <a:off x="692951" y="4045629"/>
            <a:ext cx="6150140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publication (2025)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in a reputed journal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Explainable AI (SHAP)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clear scope for further enhancement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advanced ML techniques (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48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941964" y="577815"/>
            <a:ext cx="4961783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Research Gap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FE50B3E-8164-E04E-8E32-3BC41866D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832" y="1655330"/>
            <a:ext cx="8401377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lack an integrated framework for strength, cost, and sustainability analysis.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Carbon emission impact of concrete mix designs is rarely considered.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research does not provide an optimal concrete mix recommendation system.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consideration of real-world construction requirements such as budget constraints.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mainly focus on prediction rather than decision support.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364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682438" y="397052"/>
            <a:ext cx="1779124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N</a:t>
            </a:r>
            <a:r>
              <a:rPr lang="en-IN" sz="3600" dirty="0" err="1">
                <a:solidFill>
                  <a:srgbClr val="FF0000"/>
                </a:solidFill>
              </a:rPr>
              <a:t>ovelty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59565-91CB-3A74-9047-C337B83FED6A}"/>
              </a:ext>
            </a:extLst>
          </p:cNvPr>
          <p:cNvSpPr txBox="1"/>
          <p:nvPr/>
        </p:nvSpPr>
        <p:spPr>
          <a:xfrm>
            <a:off x="1172798" y="1762467"/>
            <a:ext cx="7176072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Novel Contributions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Concrete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 Recommendation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Estimation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Emission Estimation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 and analysis through a web-based interface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support considering strength, cost, and sustainability simultaneously.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137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572000" y="380000"/>
            <a:ext cx="6000000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	A</a:t>
            </a:r>
            <a:r>
              <a:rPr lang="en-IN" sz="3600" dirty="0">
                <a:solidFill>
                  <a:srgbClr val="FF0000"/>
                </a:solidFill>
              </a:rPr>
              <a:t>rchitecture Diagram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B07116-8878-7954-936A-F5B6A066F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" y="1683532"/>
            <a:ext cx="8524240" cy="453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775488" y="361712"/>
            <a:ext cx="8544000" cy="9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P</a:t>
            </a:r>
            <a:r>
              <a:rPr lang="en-IN" sz="3600" dirty="0">
                <a:solidFill>
                  <a:srgbClr val="FF0000"/>
                </a:solidFill>
              </a:rPr>
              <a:t>roposed Work with Planned Innovation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72798" y="1762467"/>
            <a:ext cx="7176072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Innovations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using SHAP for transparent strength prediction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Multi-objective optimization balancing strength, cost, and sustainability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material cost estimation for each mix design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footprint estimation to support sustainable construction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concrete mix recommendation engine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prediction dashboard interface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evaluation of multiple ML models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for optimal model performance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272000" y="380000"/>
            <a:ext cx="6600000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	M</a:t>
            </a:r>
            <a:r>
              <a:rPr lang="en-IN" sz="3600" dirty="0">
                <a:solidFill>
                  <a:srgbClr val="FF0000"/>
                </a:solidFill>
              </a:rPr>
              <a:t>odules of the Project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72798" y="1762467"/>
            <a:ext cx="7176072" cy="3972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Modules</a:t>
            </a:r>
          </a:p>
          <a:p>
            <a:pPr>
              <a:lnSpc>
                <a:spcPct val="150000"/>
              </a:lnSpc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Dataset Collection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Data Preprocessing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Feature Engineering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Machine Learning Model Training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SHAP Explainability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 – Cost Prediction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7 – Carbon Emission Prediction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8 – Concrete Mix Recommendation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9 – Prediction Dashboard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10 – 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834511" y="257507"/>
            <a:ext cx="3456959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Implementation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DEE012-4210-352D-10BC-B6A94BA52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61" y="1241688"/>
            <a:ext cx="3019846" cy="24890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E438BB-1C3D-3240-1D37-DB7C572A6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4199" y="1399032"/>
            <a:ext cx="3816546" cy="21123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92877B-958A-4A71-D3A1-ADB0E4316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" y="3897099"/>
            <a:ext cx="6437376" cy="282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992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E88636-9BFE-A6DC-670D-7AC2E8EAF7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FFD7D8-CE20-F409-0595-BE0DF4C35660}"/>
              </a:ext>
            </a:extLst>
          </p:cNvPr>
          <p:cNvSpPr txBox="1"/>
          <p:nvPr/>
        </p:nvSpPr>
        <p:spPr>
          <a:xfrm>
            <a:off x="3246120" y="408355"/>
            <a:ext cx="45994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C69586-E966-A6C9-5333-1F98CEE341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993" r="1445" b="1"/>
          <a:stretch>
            <a:fillRect/>
          </a:stretch>
        </p:blipFill>
        <p:spPr>
          <a:xfrm>
            <a:off x="2082800" y="1107440"/>
            <a:ext cx="5651230" cy="238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769001-CF32-60C8-AA94-B33927AD44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967" r="2889"/>
          <a:stretch>
            <a:fillRect/>
          </a:stretch>
        </p:blipFill>
        <p:spPr>
          <a:xfrm>
            <a:off x="2020198" y="3728492"/>
            <a:ext cx="5825354" cy="254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491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28080E-4A7B-01AE-C6BE-311916683E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19A38-6E28-A6C8-D3FC-5289C37C4520}"/>
              </a:ext>
            </a:extLst>
          </p:cNvPr>
          <p:cNvSpPr txBox="1"/>
          <p:nvPr/>
        </p:nvSpPr>
        <p:spPr>
          <a:xfrm>
            <a:off x="3309730" y="333129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82F344-B3E8-54B2-E179-912C57F084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832" r="1739"/>
          <a:stretch>
            <a:fillRect/>
          </a:stretch>
        </p:blipFill>
        <p:spPr>
          <a:xfrm>
            <a:off x="2160569" y="917904"/>
            <a:ext cx="5299938" cy="25903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EC0A76-5275-4C7C-29EE-038FDB43D8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422" r="1957"/>
          <a:stretch>
            <a:fillRect/>
          </a:stretch>
        </p:blipFill>
        <p:spPr>
          <a:xfrm>
            <a:off x="2160569" y="3838316"/>
            <a:ext cx="5299938" cy="253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14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80BB-327B-7B1F-C7B6-6B0C54D19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534924"/>
            <a:ext cx="7772400" cy="492443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Git Documentation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1D0357-66FF-AA0A-51D7-D265D3775D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6BE67-086F-D51F-C8F0-88B98B0794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692EC-ABBC-73EB-A316-DD8EBB24B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65" y="1486873"/>
            <a:ext cx="8070574" cy="470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542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826671" y="484219"/>
            <a:ext cx="4200295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E</a:t>
            </a:r>
            <a:r>
              <a:rPr lang="en-IN" sz="3600" dirty="0" err="1">
                <a:solidFill>
                  <a:srgbClr val="FF0000"/>
                </a:solidFill>
              </a:rPr>
              <a:t>xpected</a:t>
            </a:r>
            <a:r>
              <a:rPr lang="en-IN" sz="3600" dirty="0">
                <a:solidFill>
                  <a:srgbClr val="FF0000"/>
                </a:solidFill>
              </a:rPr>
              <a:t> Outcome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63EDBA-6E2C-89E2-F0F3-2AC9C65E9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5558" y="2058599"/>
            <a:ext cx="8593391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prediction of concrete compressive strength.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dependency on laboratory testing.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decision-making during construction planning.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Sustainable and cost-effective concrete mix recommendations.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construction material wastage.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prediction dashboard for engineers and researchers.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resource utilization and environmental sustainability.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8355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1DED8-A755-6565-BDEA-B363785EF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525780"/>
            <a:ext cx="7772400" cy="492443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SDG GOALS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9EFA2B-1DFB-6A31-2FAE-2A6DF3E35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3243" y="1882471"/>
            <a:ext cx="6400800" cy="3739485"/>
          </a:xfrm>
        </p:spPr>
        <p:txBody>
          <a:bodyPr/>
          <a:lstStyle/>
          <a:p>
            <a:r>
              <a:rPr lang="en-IN" sz="1800" dirty="0"/>
              <a:t>Sustainable Development Goals:</a:t>
            </a:r>
          </a:p>
          <a:p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dirty="0"/>
              <a:t>SDG 9 – Industry, Innovation &amp; Infrastructure</a:t>
            </a:r>
            <a:br>
              <a:rPr lang="en-IN" sz="1800" dirty="0"/>
            </a:br>
            <a:r>
              <a:rPr lang="en-IN" sz="1800" b="0" dirty="0"/>
              <a:t>AI-driven concrete strength prediction and optimization</a:t>
            </a:r>
            <a:r>
              <a:rPr lang="en-IN" sz="1800" dirty="0"/>
              <a:t>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SDG 12 – Responsible Consumption &amp; Production</a:t>
            </a:r>
            <a:br>
              <a:rPr lang="en-IN" sz="1800" dirty="0"/>
            </a:br>
            <a:r>
              <a:rPr lang="en-IN" sz="1800" b="0" dirty="0"/>
              <a:t>Optimizes material usage, cost, and resource efficiency.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SDG 13 – Climate Action</a:t>
            </a:r>
            <a:br>
              <a:rPr lang="en-IN" sz="1800" dirty="0"/>
            </a:br>
            <a:r>
              <a:rPr lang="en-IN" sz="1800" b="0" dirty="0"/>
              <a:t>Evaluates carbon emissions and promotes lower-impact concrete mixes.</a:t>
            </a:r>
          </a:p>
          <a:p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6CD4B-423E-55F4-1D65-16E4703EA0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78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209943" y="2854155"/>
            <a:ext cx="5158553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spc="-40" dirty="0"/>
              <a:t>THANK</a:t>
            </a:r>
            <a:r>
              <a:rPr lang="en-IN" spc="-190" dirty="0"/>
              <a:t> </a:t>
            </a:r>
            <a:r>
              <a:rPr lang="en-IN" spc="-20" dirty="0"/>
              <a:t>YOU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4909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938</Words>
  <Application>Microsoft Office PowerPoint</Application>
  <PresentationFormat>On-screen Show (4:3)</PresentationFormat>
  <Paragraphs>175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22CSP72 – PROJECT WORK II PHASE I II Review  Explainable Multi-Objective Concrete Mix Optimization for Strength, Cost, and Sustainability Using Machine Learning</vt:lpstr>
      <vt:lpstr>Problem Statement </vt:lpstr>
      <vt:lpstr>Proposed Solution</vt:lpstr>
      <vt:lpstr>Objectives</vt:lpstr>
      <vt:lpstr>Literature Survey</vt:lpstr>
      <vt:lpstr>         Literature Survey</vt:lpstr>
      <vt:lpstr>Base Paper Selection</vt:lpstr>
      <vt:lpstr>Research Gap</vt:lpstr>
      <vt:lpstr>Novelty</vt:lpstr>
      <vt:lpstr> Architecture Diagram</vt:lpstr>
      <vt:lpstr>Proposed Work with Planned Innovation</vt:lpstr>
      <vt:lpstr> Modules of the Project</vt:lpstr>
      <vt:lpstr>Implementation</vt:lpstr>
      <vt:lpstr>PowerPoint Presentation</vt:lpstr>
      <vt:lpstr>PowerPoint Presentation</vt:lpstr>
      <vt:lpstr>Git Documentation</vt:lpstr>
      <vt:lpstr>Expected Outcome</vt:lpstr>
      <vt:lpstr>SDG GOALS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Deployment of E-Commerce Web Application using Jenkins and Kubernetes</dc:title>
  <dc:creator>Bhobesh adhithiyan</dc:creator>
  <cp:lastModifiedBy>NESHA RAVICHANDRAN</cp:lastModifiedBy>
  <cp:revision>49</cp:revision>
  <dcterms:created xsi:type="dcterms:W3CDTF">2025-02-28T03:17:42Z</dcterms:created>
  <dcterms:modified xsi:type="dcterms:W3CDTF">2026-09-09T05:46:27Z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2025-02-28T00:00:00Z</vt:filetime>
  </property>
  <property fmtid="{D5CDD505-2E9C-101B-9397-08002B2CF9AE}" pid="5" name="Producer">
    <vt:lpwstr>Microsoft® PowerPoint® 2021</vt:lpwstr>
  </property>
</Properties>
</file>