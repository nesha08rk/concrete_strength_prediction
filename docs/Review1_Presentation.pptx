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3" r:id="rId4"/>
    <p:sldId id="258" r:id="rId5"/>
    <p:sldId id="272" r:id="rId6"/>
    <p:sldId id="271" r:id="rId7"/>
    <p:sldId id="262" r:id="rId8"/>
    <p:sldId id="264" r:id="rId9"/>
    <p:sldId id="273" r:id="rId10"/>
    <p:sldId id="274" r:id="rId11"/>
    <p:sldId id="275" r:id="rId12"/>
    <p:sldId id="259" r:id="rId13"/>
    <p:sldId id="276" r:id="rId14"/>
    <p:sldId id="260" r:id="rId15"/>
    <p:sldId id="269" r:id="rId16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jmihMLrrBZE8aYcezI03h6WiDJ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960" autoAdjust="0"/>
    <p:restoredTop sz="94660"/>
  </p:normalViewPr>
  <p:slideViewPr>
    <p:cSldViewPr snapToGrid="0">
      <p:cViewPr varScale="1">
        <p:scale>
          <a:sx n="70" d="100"/>
          <a:sy n="70" d="100"/>
        </p:scale>
        <p:origin x="476" y="5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0884616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00933E87-5C11-3150-3F05-8896B8934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>
            <a:extLst>
              <a:ext uri="{FF2B5EF4-FFF2-40B4-BE49-F238E27FC236}">
                <a16:creationId xmlns:a16="http://schemas.microsoft.com/office/drawing/2014/main" id="{60E1B26B-17EA-AD8E-7121-C44CBAE90A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9BA26095-9FCE-F6DB-A302-A38E89D9CA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9126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body" idx="1"/>
          </p:nvPr>
        </p:nvSpPr>
        <p:spPr>
          <a:xfrm>
            <a:off x="4186809" y="3302679"/>
            <a:ext cx="3864609" cy="250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9144000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9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body" idx="1"/>
          </p:nvPr>
        </p:nvSpPr>
        <p:spPr>
          <a:xfrm>
            <a:off x="4186809" y="3302679"/>
            <a:ext cx="3864609" cy="250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1"/>
          <p:cNvGrpSpPr/>
          <p:nvPr/>
        </p:nvGrpSpPr>
        <p:grpSpPr>
          <a:xfrm>
            <a:off x="0" y="0"/>
            <a:ext cx="3067050" cy="6857998"/>
            <a:chOff x="0" y="0"/>
            <a:chExt cx="3067050" cy="6857998"/>
          </a:xfrm>
        </p:grpSpPr>
        <p:pic>
          <p:nvPicPr>
            <p:cNvPr id="49" name="Google Shape;49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3067050" cy="68579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24000" y="1338452"/>
              <a:ext cx="1479041" cy="1389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81000" y="4495812"/>
              <a:ext cx="1479041" cy="18413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" name="Google Shape;52;p1"/>
          <p:cNvSpPr txBox="1">
            <a:spLocks noGrp="1"/>
          </p:cNvSpPr>
          <p:nvPr>
            <p:ph type="title"/>
          </p:nvPr>
        </p:nvSpPr>
        <p:spPr>
          <a:xfrm>
            <a:off x="3003041" y="285285"/>
            <a:ext cx="6312310" cy="2229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22CSP72 – PROJECT WORK II PHASE II</a:t>
            </a:r>
            <a:br>
              <a:rPr lang="en-US" sz="2400" dirty="0"/>
            </a:br>
            <a:r>
              <a:rPr lang="en-US" sz="2400" dirty="0"/>
              <a:t>First Review</a:t>
            </a:r>
            <a:br>
              <a:rPr lang="en-GB" sz="2400" dirty="0"/>
            </a:br>
            <a:br>
              <a:rPr lang="en-GB" sz="2400" dirty="0"/>
            </a:br>
            <a:r>
              <a:rPr lang="en-GB" sz="2400" dirty="0"/>
              <a:t>Explainable Multi-Objective Concrete Mix Optimization for Strength, Cost, and Sustainability Using Machine Learning</a:t>
            </a:r>
          </a:p>
        </p:txBody>
      </p:sp>
      <p:sp>
        <p:nvSpPr>
          <p:cNvPr id="53" name="Google Shape;53;p1"/>
          <p:cNvSpPr txBox="1">
            <a:spLocks noGrp="1"/>
          </p:cNvSpPr>
          <p:nvPr>
            <p:ph type="body" idx="1"/>
          </p:nvPr>
        </p:nvSpPr>
        <p:spPr>
          <a:xfrm>
            <a:off x="4572000" y="3209573"/>
            <a:ext cx="5257801" cy="2517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 dirty="0"/>
          </a:p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MIDUNA R </a:t>
            </a:r>
            <a:r>
              <a:rPr lang="en-US" b="0" dirty="0">
                <a:latin typeface="Times New Roman"/>
                <a:ea typeface="Times New Roman"/>
                <a:cs typeface="Times New Roman"/>
                <a:sym typeface="Times New Roman"/>
              </a:rPr>
              <a:t>(23CSR131)</a:t>
            </a:r>
            <a:endParaRPr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latin typeface="Times New Roman"/>
                <a:ea typeface="Times New Roman"/>
                <a:cs typeface="Times New Roman"/>
                <a:sym typeface="Times New Roman"/>
              </a:rPr>
              <a:t>NESHA R K(23CSR147) </a:t>
            </a:r>
          </a:p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ROHITH O R(23CSR180)</a:t>
            </a:r>
          </a:p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8975" marR="618490" lvl="0" indent="-65405"/>
            <a:r>
              <a:rPr lang="en-IN" dirty="0"/>
              <a:t>MENTOR</a:t>
            </a:r>
            <a:r>
              <a:rPr lang="en-IN" b="0" dirty="0"/>
              <a:t> : </a:t>
            </a:r>
          </a:p>
          <a:p>
            <a:pPr marL="688975" marR="618490" lvl="0" indent="-65405"/>
            <a:r>
              <a:rPr lang="en-IN" b="0" dirty="0"/>
              <a:t>Mr T ARUNKUMAR</a:t>
            </a:r>
          </a:p>
          <a:p>
            <a:pPr marL="688975" marR="618490" lvl="0" indent="-65405"/>
            <a:r>
              <a:rPr lang="en-IN" b="0" dirty="0"/>
              <a:t>Assistant Professor  / CSE</a:t>
            </a:r>
            <a:endParaRPr b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3109383" y="6092143"/>
            <a:ext cx="5236209" cy="629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/>
            <a:br>
              <a:rPr lang="en-IN" sz="2000" b="1" spc="-10" dirty="0">
                <a:latin typeface="Times New Roman"/>
                <a:cs typeface="Times New Roman"/>
              </a:rPr>
            </a:br>
            <a:r>
              <a:rPr lang="en-US" sz="20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US" sz="20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.07.2026</a:t>
            </a:r>
            <a:endParaRPr sz="2000" b="0" i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2962638" y="294175"/>
            <a:ext cx="4672602" cy="132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FF0000"/>
                </a:solidFill>
              </a:rPr>
              <a:t>Problem Statement</a:t>
            </a:r>
            <a:br>
              <a:rPr lang="en-US" sz="3600" dirty="0">
                <a:solidFill>
                  <a:srgbClr val="FF0000"/>
                </a:solidFill>
              </a:rPr>
            </a:b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970855" y="1323941"/>
            <a:ext cx="7715945" cy="4210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dirty="0"/>
              <a:t>Existing Problem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0" dirty="0"/>
              <a:t>Concrete compressive strength is a critical parameter in construction.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0" dirty="0"/>
              <a:t>Traditional strength testing requires laboratory experiments and curing periods of up to 28 days.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0" dirty="0"/>
              <a:t>Testing is time-consuming, costly, and unsuitable for rapid decision-making.</a:t>
            </a:r>
          </a:p>
          <a:p>
            <a:pPr marL="228600" indent="0">
              <a:lnSpc>
                <a:spcPct val="150000"/>
              </a:lnSpc>
            </a:pPr>
            <a:endParaRPr lang="en-IN" sz="1800" dirty="0"/>
          </a:p>
          <a:p>
            <a:pPr>
              <a:lnSpc>
                <a:spcPct val="150000"/>
              </a:lnSpc>
            </a:pPr>
            <a:r>
              <a:rPr lang="en-GB" sz="1800" dirty="0"/>
              <a:t>Proposed Solution: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0" dirty="0"/>
              <a:t>Develop a machine learning-based system to predict concrete compressive strength from mix proportions.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0" dirty="0"/>
              <a:t>Provide accurate and explainable predictions using advanced ML techniques.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262003" y="827651"/>
            <a:ext cx="3098259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 algn="ctr"/>
            <a:r>
              <a:rPr lang="en-GB" sz="3600" dirty="0">
                <a:solidFill>
                  <a:srgbClr val="FF0000"/>
                </a:solidFill>
              </a:rPr>
              <a:t>O</a:t>
            </a:r>
            <a:r>
              <a:rPr lang="en-IN" sz="3600" dirty="0" err="1">
                <a:solidFill>
                  <a:srgbClr val="FF0000"/>
                </a:solidFill>
              </a:rPr>
              <a:t>bjectives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036DB2-984A-52B7-B53C-55768F1C7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554" y="2161217"/>
            <a:ext cx="8925339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concrete compressive strength.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Machine Learning models.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predictions using SHAP.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cost and carbon emission.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the best concrete mix.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user-friendly dashboard. </a:t>
            </a:r>
          </a:p>
        </p:txBody>
      </p:sp>
    </p:spTree>
    <p:extLst>
      <p:ext uri="{BB962C8B-B14F-4D97-AF65-F5344CB8AC3E}">
        <p14:creationId xmlns:p14="http://schemas.microsoft.com/office/powerpoint/2010/main" val="2084557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2554357" y="461672"/>
            <a:ext cx="4180797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L</a:t>
            </a:r>
            <a:r>
              <a:rPr lang="en-IN" sz="3600" dirty="0" err="1">
                <a:solidFill>
                  <a:srgbClr val="FF0000"/>
                </a:solidFill>
              </a:rPr>
              <a:t>iterature</a:t>
            </a:r>
            <a:r>
              <a:rPr lang="en-IN" sz="3600" dirty="0">
                <a:solidFill>
                  <a:srgbClr val="FF0000"/>
                </a:solidFill>
              </a:rPr>
              <a:t> Survey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EB99CE-EE9A-923E-F5AF-C7003C914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986541"/>
              </p:ext>
            </p:extLst>
          </p:nvPr>
        </p:nvGraphicFramePr>
        <p:xfrm>
          <a:off x="745434" y="1679712"/>
          <a:ext cx="8010940" cy="4581196"/>
        </p:xfrm>
        <a:graphic>
          <a:graphicData uri="http://schemas.openxmlformats.org/drawingml/2006/table">
            <a:tbl>
              <a:tblPr firstRow="1" bandRow="1"/>
              <a:tblGrid>
                <a:gridCol w="1602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2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2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2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Author &amp; Year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Methodology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Best Model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Performance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Limitations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5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MDA-Based Concrete Strength Prediction (2024)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Modified Dimensional Analysis (MDA), DT, RF, SVM, ANN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MDA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R² = 0.94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No explainability, no optimization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5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Concrete Strength Prediction Using ML Techniques (2024)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LR, RF, DT, XGBoost, LightGBM, AdaBoost, CatBoost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LightGBM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R² = 0.895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Only prediction, lacks interpretability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5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Interpretable ML Model for RA-SCC (2025)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XGBoost, RF, SVR, MLP, SHAP, Bayesian Optimization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XGBoost + SHAP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R² = 0.909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Small dataset, no cost/carbon analysis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5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Concrete Strength Prediction Using ML (2024)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RF, SVM, Bagging Regressor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Random Forest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R² = 0.87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No explainable AI, limited optimization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547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554357" y="461672"/>
            <a:ext cx="6180797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         L</a:t>
            </a:r>
            <a:r>
              <a:rPr lang="en-IN" sz="3600" dirty="0" err="1">
                <a:solidFill>
                  <a:srgbClr val="FF0000"/>
                </a:solidFill>
              </a:rPr>
              <a:t>iterature</a:t>
            </a:r>
            <a:r>
              <a:rPr lang="en-IN" sz="3600" dirty="0">
                <a:solidFill>
                  <a:srgbClr val="FF0000"/>
                </a:solidFill>
              </a:rPr>
              <a:t> Survey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EB99CE-EE9A-923E-F5AF-C7003C914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986541"/>
              </p:ext>
            </p:extLst>
          </p:nvPr>
        </p:nvGraphicFramePr>
        <p:xfrm>
          <a:off x="745434" y="1679712"/>
          <a:ext cx="8010940" cy="4581196"/>
        </p:xfrm>
        <a:graphic>
          <a:graphicData uri="http://schemas.openxmlformats.org/drawingml/2006/table">
            <a:tbl>
              <a:tblPr firstRow="1" bandRow="1"/>
              <a:tblGrid>
                <a:gridCol w="1602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2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2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2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Author &amp; Year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Methodology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Best Model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Performance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Limitations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5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Alsaadawi et al. – Hybrid ML with Interactive GUI (2025)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RF, AdaBoost, XGBoost, LightGBM, CatBoost + Bayesian Optimization + SHAP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LightGBM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Accuracy up to 93.5%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Classification only, not mix optimization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5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Abioye et al. – SHAP Analysis for HPC Strength (2025)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XGBoost, GBR, RF, SVR, ANN, KNN + Grid Search + SHAP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XGBoost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R² = 93.49%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Prediction only, no cost optimization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5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Shaaban et al. – Forecasting HSC Strength (2025)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XGBoost, RF, ANN, SVR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XGBoost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R² ≈ 0.94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No explainability or sustainability analysis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5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Sapkota et al. – Explainable ML for HSC Strength (2025)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XGBoost + Metaheuristic Optimization + SHAP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LS-XGB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R² &gt; 0.96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50" dirty="0"/>
                        <a:t>Limited to high-strength concrete dataset</a:t>
                      </a:r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547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6232D14E-EE81-BEA8-21C1-542F5DEC2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>
            <a:extLst>
              <a:ext uri="{FF2B5EF4-FFF2-40B4-BE49-F238E27FC236}">
                <a16:creationId xmlns:a16="http://schemas.microsoft.com/office/drawing/2014/main" id="{CF82B9DD-BD01-BE97-517F-749705D975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24894" y="137160"/>
            <a:ext cx="4187162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Base Paper Selection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>
            <a:extLst>
              <a:ext uri="{FF2B5EF4-FFF2-40B4-BE49-F238E27FC236}">
                <a16:creationId xmlns:a16="http://schemas.microsoft.com/office/drawing/2014/main" id="{741D38C7-9908-094D-C848-9BA085FD17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5861B0-D818-95CF-EE90-A6590BB61962}"/>
              </a:ext>
            </a:extLst>
          </p:cNvPr>
          <p:cNvSpPr txBox="1"/>
          <p:nvPr/>
        </p:nvSpPr>
        <p:spPr>
          <a:xfrm>
            <a:off x="692951" y="1053096"/>
            <a:ext cx="8272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 Machine Learning Model for Compressive Strength Prediction</a:t>
            </a:r>
          </a:p>
          <a:p>
            <a:pPr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of  Self-Compacting Concrete with Recycled Concrete Aggregates and SCMs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ED4741-F249-DBBA-D644-7A5793288D1D}"/>
              </a:ext>
            </a:extLst>
          </p:cNvPr>
          <p:cNvSpPr txBox="1"/>
          <p:nvPr/>
        </p:nvSpPr>
        <p:spPr>
          <a:xfrm>
            <a:off x="692951" y="1762324"/>
            <a:ext cx="4572000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Details:</a:t>
            </a:r>
          </a:p>
          <a:p>
            <a:pPr marL="285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Journal: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Journal of Building Engineering </a:t>
            </a:r>
          </a:p>
          <a:p>
            <a:pPr marL="285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Publisher: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Elsevier </a:t>
            </a:r>
          </a:p>
          <a:p>
            <a:pPr marL="285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Year: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 </a:t>
            </a:r>
          </a:p>
          <a:p>
            <a:pPr marL="285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Model: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SHAP </a:t>
            </a:r>
          </a:p>
          <a:p>
            <a:pPr marL="285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R² = 0.909 (90.9%)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6954E0-6CAE-DE7F-873C-3CBD6B7ECD8C}"/>
              </a:ext>
            </a:extLst>
          </p:cNvPr>
          <p:cNvSpPr txBox="1"/>
          <p:nvPr/>
        </p:nvSpPr>
        <p:spPr>
          <a:xfrm>
            <a:off x="692951" y="4185274"/>
            <a:ext cx="6150140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publication (2025)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in a reputed journal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Explainable AI (SHAP)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clear scope for further enhancement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advanced ML techniques (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485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2941964" y="577815"/>
            <a:ext cx="4961783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Research Gap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FE50B3E-8164-E04E-8E32-3BC41866D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832" y="1655330"/>
            <a:ext cx="8401377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models lack an integrated framework for strength, cost, and sustainability analysis.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Carbon emission impact of concrete mix designs is rarely considered.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research does not provide an optimal concrete mix recommendation system.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consideration of real-world construction requirements such as budget constraints.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mainly focus on prediction rather than decision support.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364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682438" y="397052"/>
            <a:ext cx="1779124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N</a:t>
            </a:r>
            <a:r>
              <a:rPr lang="en-IN" sz="3600" dirty="0" err="1">
                <a:solidFill>
                  <a:srgbClr val="FF0000"/>
                </a:solidFill>
              </a:rPr>
              <a:t>ovelty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359565-91CB-3A74-9047-C337B83FED6A}"/>
              </a:ext>
            </a:extLst>
          </p:cNvPr>
          <p:cNvSpPr txBox="1"/>
          <p:nvPr/>
        </p:nvSpPr>
        <p:spPr>
          <a:xfrm>
            <a:off x="1172798" y="1762467"/>
            <a:ext cx="7176072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Novel Contributions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SHAP-based Explainability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Concrete Mix Recommendation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 Estimation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Emission Estimation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 and analysis through a web-based interface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Multi-criteria decision support considering strength, cost, and sustainability simultaneously.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137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572000" y="380000"/>
            <a:ext cx="6000000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	A</a:t>
            </a:r>
            <a:r>
              <a:rPr lang="en-IN" sz="3600" dirty="0">
                <a:solidFill>
                  <a:srgbClr val="FF0000"/>
                </a:solidFill>
              </a:rPr>
              <a:t>rchitecture Diagram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9" name="Subtitle"/>
          <p:cNvSpPr txBox="1"/>
          <p:nvPr/>
        </p:nvSpPr>
        <p:spPr>
          <a:xfrm>
            <a:off x="745434" y="1550000"/>
            <a:ext cx="77531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400" b="1" dirty="0"/>
              <a:t>Explainable Concrete Mix Optimization –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2554" y="2318207"/>
            <a:ext cx="3800000" cy="2989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lnSpc>
                <a:spcPct val="115000"/>
              </a:lnSpc>
              <a:buNone/>
            </a:pPr>
            <a:r>
              <a:rPr lang="en-IN" sz="1500" b="0" dirty="0"/>
              <a:t>	Concrete Dataset</a:t>
            </a:r>
          </a:p>
          <a:p>
            <a:pPr marL="114300" indent="0" algn="ctr">
              <a:lnSpc>
                <a:spcPct val="115000"/>
              </a:lnSpc>
              <a:buNone/>
            </a:pPr>
            <a:r>
              <a:rPr lang="en-IN" sz="1500" b="0" dirty="0"/>
              <a:t>↓</a:t>
            </a:r>
          </a:p>
          <a:p>
            <a:pPr marL="114300" indent="0">
              <a:lnSpc>
                <a:spcPct val="115000"/>
              </a:lnSpc>
              <a:buNone/>
            </a:pPr>
            <a:r>
              <a:rPr lang="en-IN" sz="1500" b="0" dirty="0"/>
              <a:t>	Preprocessing</a:t>
            </a:r>
          </a:p>
          <a:p>
            <a:pPr marL="114300" indent="0" algn="ctr">
              <a:lnSpc>
                <a:spcPct val="115000"/>
              </a:lnSpc>
              <a:buNone/>
            </a:pPr>
            <a:r>
              <a:rPr lang="en-IN" sz="1500" b="0" dirty="0"/>
              <a:t>↓</a:t>
            </a:r>
          </a:p>
          <a:p>
            <a:pPr marL="114300" indent="0">
              <a:lnSpc>
                <a:spcPct val="115000"/>
              </a:lnSpc>
              <a:buNone/>
            </a:pPr>
            <a:r>
              <a:rPr lang="en-IN" sz="1500" b="0" dirty="0"/>
              <a:t>	Feature Engineering</a:t>
            </a:r>
          </a:p>
          <a:p>
            <a:pPr marL="114300" indent="0" algn="ctr">
              <a:lnSpc>
                <a:spcPct val="115000"/>
              </a:lnSpc>
              <a:buNone/>
            </a:pPr>
            <a:r>
              <a:rPr lang="en-IN" sz="1500" b="0" dirty="0"/>
              <a:t>↓</a:t>
            </a:r>
          </a:p>
          <a:p>
            <a:pPr marL="114300" indent="0">
              <a:lnSpc>
                <a:spcPct val="115000"/>
              </a:lnSpc>
              <a:buNone/>
            </a:pPr>
            <a:r>
              <a:rPr lang="en-IN" sz="1500" b="0" dirty="0"/>
              <a:t>	Train ML Models</a:t>
            </a:r>
          </a:p>
          <a:p>
            <a:pPr marL="114300" indent="0" algn="ctr">
              <a:lnSpc>
                <a:spcPct val="115000"/>
              </a:lnSpc>
              <a:buNone/>
            </a:pPr>
            <a:r>
              <a:rPr lang="en-IN" sz="1500" b="0" dirty="0"/>
              <a:t>↓</a:t>
            </a:r>
          </a:p>
          <a:p>
            <a:pPr marL="114300" indent="0">
              <a:lnSpc>
                <a:spcPct val="115000"/>
              </a:lnSpc>
              <a:buNone/>
            </a:pPr>
            <a:r>
              <a:rPr lang="en-IN" sz="1500" b="0" dirty="0"/>
              <a:t>(XGBoost, CatBoost, Random Forest)</a:t>
            </a:r>
          </a:p>
          <a:p>
            <a:pPr marL="114300" indent="0" algn="ctr">
              <a:lnSpc>
                <a:spcPct val="115000"/>
              </a:lnSpc>
              <a:buNone/>
            </a:pPr>
            <a:r>
              <a:rPr lang="en-IN" sz="1500" b="0" dirty="0"/>
              <a:t>↓</a:t>
            </a:r>
          </a:p>
          <a:p>
            <a:pPr marL="114300" indent="0">
              <a:lnSpc>
                <a:spcPct val="115000"/>
              </a:lnSpc>
              <a:buNone/>
            </a:pPr>
            <a:r>
              <a:rPr lang="en-IN" sz="1500" b="0" dirty="0"/>
              <a:t>	Hyperparameter Tuning</a:t>
            </a:r>
          </a:p>
        </p:txBody>
      </p:sp>
      <p:sp>
        <p:nvSpPr>
          <p:cNvPr id="2" name="TextBox 3"/>
          <p:cNvSpPr txBox="1"/>
          <p:nvPr/>
        </p:nvSpPr>
        <p:spPr>
          <a:xfrm>
            <a:off x="3949624" y="2318207"/>
            <a:ext cx="3800000" cy="3520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lnSpc>
                <a:spcPct val="115000"/>
              </a:lnSpc>
              <a:buNone/>
            </a:pPr>
            <a:r>
              <a:rPr lang="en-IN" sz="1500" b="0" dirty="0"/>
              <a:t>	Best Model Selection</a:t>
            </a:r>
          </a:p>
          <a:p>
            <a:pPr marL="114300" indent="0" algn="ctr">
              <a:lnSpc>
                <a:spcPct val="115000"/>
              </a:lnSpc>
              <a:buNone/>
            </a:pPr>
            <a:r>
              <a:rPr lang="en-IN" sz="1500" b="0" dirty="0"/>
              <a:t>↓</a:t>
            </a:r>
          </a:p>
          <a:p>
            <a:pPr marL="114300" indent="0">
              <a:lnSpc>
                <a:spcPct val="115000"/>
              </a:lnSpc>
              <a:buNone/>
            </a:pPr>
            <a:r>
              <a:rPr lang="en-IN" sz="1500" b="0" dirty="0"/>
              <a:t>	SHAP Explainability</a:t>
            </a:r>
          </a:p>
          <a:p>
            <a:pPr marL="114300" indent="0" algn="ctr">
              <a:lnSpc>
                <a:spcPct val="115000"/>
              </a:lnSpc>
              <a:buNone/>
            </a:pPr>
            <a:r>
              <a:rPr lang="en-IN" sz="1500" b="0" dirty="0"/>
              <a:t>↓</a:t>
            </a:r>
          </a:p>
          <a:p>
            <a:pPr marL="114300" indent="0">
              <a:lnSpc>
                <a:spcPct val="115000"/>
              </a:lnSpc>
              <a:buNone/>
            </a:pPr>
            <a:r>
              <a:rPr lang="en-IN" sz="1500" b="0" dirty="0"/>
              <a:t>	Cost &amp; Carbon Estimation</a:t>
            </a:r>
          </a:p>
          <a:p>
            <a:pPr marL="114300" indent="0" algn="ctr">
              <a:lnSpc>
                <a:spcPct val="115000"/>
              </a:lnSpc>
              <a:buNone/>
            </a:pPr>
            <a:r>
              <a:rPr lang="en-IN" sz="1500" b="0" dirty="0"/>
              <a:t>↓</a:t>
            </a:r>
          </a:p>
          <a:p>
            <a:pPr marL="114300" indent="0">
              <a:lnSpc>
                <a:spcPct val="115000"/>
              </a:lnSpc>
              <a:buNone/>
            </a:pPr>
            <a:r>
              <a:rPr lang="en-IN" sz="1500" b="0" dirty="0"/>
              <a:t>	Multi-Objective Optimization</a:t>
            </a:r>
          </a:p>
          <a:p>
            <a:pPr marL="114300" indent="0" algn="ctr">
              <a:lnSpc>
                <a:spcPct val="115000"/>
              </a:lnSpc>
              <a:buNone/>
            </a:pPr>
            <a:r>
              <a:rPr lang="en-IN" sz="1500" b="0" dirty="0"/>
              <a:t>↓</a:t>
            </a:r>
          </a:p>
          <a:p>
            <a:pPr marL="114300" indent="0">
              <a:lnSpc>
                <a:spcPct val="115000"/>
              </a:lnSpc>
              <a:buNone/>
            </a:pPr>
            <a:r>
              <a:rPr lang="en-IN" sz="1500" b="0" dirty="0"/>
              <a:t>	Concrete Mix Recommendation</a:t>
            </a:r>
          </a:p>
          <a:p>
            <a:pPr marL="114300" indent="0" algn="ctr">
              <a:lnSpc>
                <a:spcPct val="115000"/>
              </a:lnSpc>
              <a:buNone/>
            </a:pPr>
            <a:r>
              <a:rPr lang="en-IN" sz="1500" b="0" dirty="0"/>
              <a:t>↓</a:t>
            </a:r>
          </a:p>
          <a:p>
            <a:pPr marL="114300" indent="0">
              <a:lnSpc>
                <a:spcPct val="115000"/>
              </a:lnSpc>
              <a:buNone/>
            </a:pPr>
            <a:r>
              <a:rPr lang="en-IN" sz="1500" b="0" dirty="0"/>
              <a:t>	Prediction Dashboard</a:t>
            </a:r>
          </a:p>
          <a:p>
            <a:pPr marL="114300" indent="0" algn="ctr">
              <a:lnSpc>
                <a:spcPct val="115000"/>
              </a:lnSpc>
              <a:buNone/>
            </a:pPr>
            <a:r>
              <a:rPr lang="en-IN" sz="1500" b="0" dirty="0"/>
              <a:t>↓</a:t>
            </a:r>
          </a:p>
          <a:p>
            <a:pPr marL="114300" indent="0">
              <a:lnSpc>
                <a:spcPct val="115000"/>
              </a:lnSpc>
              <a:buNone/>
            </a:pPr>
            <a:r>
              <a:rPr lang="en-IN" sz="1500" b="0" dirty="0"/>
              <a:t>	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775488" y="361712"/>
            <a:ext cx="8544000" cy="9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P</a:t>
            </a:r>
            <a:r>
              <a:rPr lang="en-IN" sz="3600" dirty="0">
                <a:solidFill>
                  <a:srgbClr val="FF0000"/>
                </a:solidFill>
              </a:rPr>
              <a:t>roposed Work with Planned Innovation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72798" y="1762467"/>
            <a:ext cx="7176072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Innovations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using SHAP for transparent strength prediction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Multi-objective optimization balancing strength, cost, and sustainability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material cost estimation for each mix design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footprint estimation to support sustainable construction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concrete mix recommendation engine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prediction dashboard interface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evaluation of multiple ML models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for optimal model performance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272000" y="380000"/>
            <a:ext cx="6600000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	M</a:t>
            </a:r>
            <a:r>
              <a:rPr lang="en-IN" sz="3600" dirty="0">
                <a:solidFill>
                  <a:srgbClr val="FF0000"/>
                </a:solidFill>
              </a:rPr>
              <a:t>odules of the Project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72798" y="1762467"/>
            <a:ext cx="7176072" cy="3972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Modules</a:t>
            </a:r>
          </a:p>
          <a:p>
            <a:pPr>
              <a:lnSpc>
                <a:spcPct val="150000"/>
              </a:lnSpc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Dataset Collection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Data Preprocessing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Feature Engineering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Machine Learning Model Training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 – SHAP Explainability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6 – Cost Prediction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7 – Carbon Emission Prediction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8 – Concrete Mix Recommendation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9 – Prediction Dashboard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10 – 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2834511" y="257507"/>
            <a:ext cx="3456959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Implementation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DEE012-4210-352D-10BC-B6A94BA52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661" y="1241688"/>
            <a:ext cx="3019846" cy="24890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E438BB-1C3D-3240-1D37-DB7C572A6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4199" y="1399032"/>
            <a:ext cx="3816546" cy="21123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92877B-958A-4A71-D3A1-ADB0E4316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" y="3897099"/>
            <a:ext cx="6437376" cy="282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992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80BB-327B-7B1F-C7B6-6B0C54D19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534924"/>
            <a:ext cx="7772400" cy="492443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Git Documentation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1D0357-66FF-AA0A-51D7-D265D3775D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6BE67-086F-D51F-C8F0-88B98B0794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27DAC6-AE8C-08CB-64D0-80A367410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90472"/>
            <a:ext cx="8001000" cy="486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542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2826671" y="484219"/>
            <a:ext cx="4200295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E</a:t>
            </a:r>
            <a:r>
              <a:rPr lang="en-IN" sz="3600" dirty="0" err="1">
                <a:solidFill>
                  <a:srgbClr val="FF0000"/>
                </a:solidFill>
              </a:rPr>
              <a:t>xpected</a:t>
            </a:r>
            <a:r>
              <a:rPr lang="en-IN" sz="3600" dirty="0">
                <a:solidFill>
                  <a:srgbClr val="FF0000"/>
                </a:solidFill>
              </a:rPr>
              <a:t> Outcome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63EDBA-6E2C-89E2-F0F3-2AC9C65E9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5558" y="2058599"/>
            <a:ext cx="8593391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prediction of concrete compressive strength.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dependency on laboratory testing.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decision-making during construction planning.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Sustainable and cost-effective concrete mix recommendations.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construction material wastage.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prediction dashboard for engineers and researchers.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resource utilization and environmental sustainability.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8355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209943" y="2854155"/>
            <a:ext cx="5158553" cy="71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IN" spc="-40" dirty="0"/>
              <a:t>THANK</a:t>
            </a:r>
            <a:r>
              <a:rPr lang="en-IN" spc="-190" dirty="0"/>
              <a:t> </a:t>
            </a:r>
            <a:r>
              <a:rPr lang="en-IN" spc="-20" dirty="0"/>
              <a:t>YOU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4909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883</Words>
  <Application>Microsoft Office PowerPoint</Application>
  <PresentationFormat>On-screen Show (4:3)</PresentationFormat>
  <Paragraphs>183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22CSP72 – PROJECT WORK II PHASE II First Review  Explainable Multi-Objective Concrete Mix Optimization for Strength, Cost, and Sustainability Using Machine Learning</vt:lpstr>
      <vt:lpstr>Problem Statement </vt:lpstr>
      <vt:lpstr>Objectives</vt:lpstr>
      <vt:lpstr>Literature Survey</vt:lpstr>
      <vt:lpstr>         Literature Survey</vt:lpstr>
      <vt:lpstr>Base Paper Selection</vt:lpstr>
      <vt:lpstr>Research Gap</vt:lpstr>
      <vt:lpstr>Novelty</vt:lpstr>
      <vt:lpstr> Architecture Diagram</vt:lpstr>
      <vt:lpstr>Proposed Work with Planned Innovation</vt:lpstr>
      <vt:lpstr> Modules of the Project</vt:lpstr>
      <vt:lpstr>Implementation</vt:lpstr>
      <vt:lpstr>Git Documentation</vt:lpstr>
      <vt:lpstr>Expected Outcome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Deployment of E-Commerce Web Application using Jenkins and Kubernetes</dc:title>
  <dc:creator>Bhobesh adhithiyan</dc:creator>
  <cp:lastModifiedBy>Miduna Rajkumar</cp:lastModifiedBy>
  <cp:revision>42</cp:revision>
  <dcterms:created xsi:type="dcterms:W3CDTF">2025-02-28T03:17:42Z</dcterms:created>
  <dcterms:modified xsi:type="dcterms:W3CDTF">2026-07-20T04:16:47Z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2025-02-28T00:00:00Z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2025-02-28T00:00:00Z</vt:filetime>
  </property>
  <property fmtid="{D5CDD505-2E9C-101B-9397-08002B2CF9AE}" pid="5" name="Producer">
    <vt:lpwstr>Microsoft® PowerPoint® 2021</vt:lpwstr>
  </property>
</Properties>
</file>